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I'm walking you through a data analysis project: Investigate Hotel Business Using Data Visualization — a look at what drives guests to book, and more importantly, what drives them to cancel, across two hotel properties from 2017 to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I'll start with why this matters commercially, then walk through the dataset and how we cleaned it, answer three core business questions, share a few deeper signals we found along the way, and close with concrete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 A cancelled booking isn't just an empty room for one night — it's wasted marketing spend to acquire that guest, a missed window to resell the room, and a hole in a forecast the hotel already staffed and priced around. Understanding booking behaviour feeds directly into revenue management, overbooking strategy, marketing spend, and guest communication. And this whole project is anchored around three core questions: which hotel type is booked most and when, does length of stay affect cancellation risk, and does lead time affect cancellation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itself is a real-world hotel booking log: 119,390 bookings, 29 features each, spanning three full years across a City Hotel and a Resort Hotel. The columns that matter most for our questions are things like hotel type, the cancellation flag, lead time, length of stay, average daily rate, and customer and market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we had to clean this data. We imputed missing values in columns like children, city, agent and company — in each case, a blank value turned out to mean something specific, like 'booked without an agent,' not just 'unknown.' We dropped duplicate rows, standardized the 'Undefined' meal category into 'No Meal,' and filtered out anomalies — negative or extreme prices, and bookings with zero guests recorded. We also engineered a total_stay feature. After all that, we were left with 85,962 clean, analysis-ready bookings — about a 28 percent reduction from the raw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question one: which hotel do guests actually book? The City Hotel dominates, with 61 percent of all bookings versus 39 percent for the Resort. That's roughly two City Hotel bookings for every one Resort booking, consistently across the full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when do they book? Both properties trough in winter and build toward an autumn peak, but the shape is different. The City Hotel climbs sharply to an October peak around 6,500 bookings, then drops off a cliff in November — a pattern that looks like business travel and conferences. The Resort Hotel has a smoother, more classic leisure curve, building through summer and peaking a bit later, in September and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does stay length predict cancellation? Overall, the City Hotel cancels more often than the Resort — 30.2 percent versus 23.5 percent. And when we break that down by length of stay, the pattern is striking. At the City Hotel, cancellation risk climbs almost linearly, from about 5 percent for a one-night stay up to 70 percent for a fourteen-night stay. The Resort Hotel rises too, but far more gently, plateauing somewhere in the 25 to 35 percent range. Longer stays, especially at the City Hotel, behave more like speculative placeholders than firm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does lead time — how far in advance a booking is made — affect cancellation? Same story, same direction. Bookings made just before arrival rarely cancel, because the guest's plans are already locked in. But the further out the booking, the higher the risk — and at the City Hotel, bookings made a year or more in advance cancel at close to 65 percent, the single highest-risk segment we found anywhere in this data. The Resort Hotel stays comparatively flatter through the middle of that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three core questions, a few other signals sharpened the picture. Personal or transient guests cancel three times as often as Business guests. Guests who make even one change to their booking — a date, a room type — cancel at about half the rate of guests who never touch it; a modification is a strong signal of continued commitment. Seventy-five percent of all bookings come through Online or Offline Travel Agencies rather than direct channels. And Resort Hotel pricing is highly seasonal, roughly tripling from the low season to the autumn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pulling it together: the City Hotel drives the majority of both bookings and cancellations. Cancellation risk rises steadily with both stay length and lead time, more steeply at the City Hotel. And across every cut of the data, the same segments keep showing up as higher risk: personal guests, unmodified bookings, and OTA-sourced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translates into five recommendations. Smooth the Resort's seasonal swing with spring promotions. Introduce graduated deposits for longer City Hotel stays. Automate a reminder sequence for bookings made far in advance. Invest in direct-booking incentives to reduce OTA dependency. And target retention offers at Business and Contract guests while reserving deposit requirements for the highest-risk Personal segment. If I had to pick just one lever to pull first, it's the deposit policy on far-ahead City Hotel bookings — that's the single highest-risk segment we found, and we already know from the booking-modification data that anything which increases guest commitment roughly halves cancellation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analysis.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D"/>
        </a:solidFill>
      </p:bgPr>
    </p:bg>
    <p:spTree>
      <p:nvGrpSpPr>
        <p:cNvPr id="1" name=""/>
        <p:cNvGrpSpPr/>
        <p:nvPr/>
      </p:nvGrpSpPr>
      <p:grpSpPr>
        <a:xfrm>
          <a:off x="0" y="0"/>
          <a:ext cx="0" cy="0"/>
          <a:chOff x="0" y="0"/>
          <a:chExt cx="0" cy="0"/>
        </a:xfrm>
      </p:grpSpPr>
      <p:sp>
        <p:nvSpPr>
          <p:cNvPr id="2" name="Text 0"/>
          <p:cNvSpPr/>
          <p:nvPr/>
        </p:nvSpPr>
        <p:spPr>
          <a:xfrm>
            <a:off x="822960" y="2331720"/>
            <a:ext cx="10515600" cy="365760"/>
          </a:xfrm>
          <a:prstGeom prst="rect">
            <a:avLst/>
          </a:prstGeom>
          <a:noFill/>
          <a:ln/>
        </p:spPr>
        <p:txBody>
          <a:bodyPr wrap="square" rtlCol="0" anchor="ctr"/>
          <a:lstStyle/>
          <a:p>
            <a:pPr indent="0" marL="0">
              <a:buNone/>
            </a:pPr>
            <a:r>
              <a:rPr lang="en-US" sz="1400" b="1" spc="300" kern="0" dirty="0">
                <a:solidFill>
                  <a:srgbClr val="C9822B"/>
                </a:solidFill>
                <a:latin typeface="Calibri" pitchFamily="34" charset="0"/>
                <a:ea typeface="Calibri" pitchFamily="34" charset="-122"/>
                <a:cs typeface="Calibri" pitchFamily="34" charset="-120"/>
              </a:rPr>
              <a:t>HOTEL BUSINESS DATA ANALYSIS</a:t>
            </a:r>
            <a:endParaRPr lang="en-US" sz="1400" dirty="0"/>
          </a:p>
        </p:txBody>
      </p:sp>
      <p:sp>
        <p:nvSpPr>
          <p:cNvPr id="3" name="Text 1"/>
          <p:cNvSpPr/>
          <p:nvPr/>
        </p:nvSpPr>
        <p:spPr>
          <a:xfrm>
            <a:off x="822960" y="2697480"/>
            <a:ext cx="10058400" cy="1737360"/>
          </a:xfrm>
          <a:prstGeom prst="rect">
            <a:avLst/>
          </a:prstGeom>
          <a:noFill/>
          <a:ln/>
        </p:spPr>
        <p:txBody>
          <a:bodyPr wrap="square"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Investigate Hotel Business</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Using Data Visualization</a:t>
            </a:r>
            <a:endParaRPr lang="en-US" sz="4400" dirty="0"/>
          </a:p>
        </p:txBody>
      </p:sp>
      <p:sp>
        <p:nvSpPr>
          <p:cNvPr id="4" name="Text 2"/>
          <p:cNvSpPr/>
          <p:nvPr/>
        </p:nvSpPr>
        <p:spPr>
          <a:xfrm>
            <a:off x="822960" y="4343400"/>
            <a:ext cx="9601200" cy="457200"/>
          </a:xfrm>
          <a:prstGeom prst="rect">
            <a:avLst/>
          </a:prstGeom>
          <a:noFill/>
          <a:ln/>
        </p:spPr>
        <p:txBody>
          <a:bodyPr wrap="square" rtlCol="0" anchor="ctr"/>
          <a:lstStyle/>
          <a:p>
            <a:pPr indent="0" marL="0">
              <a:buNone/>
            </a:pPr>
            <a:r>
              <a:rPr lang="en-US" sz="1800" i="1" dirty="0">
                <a:solidFill>
                  <a:srgbClr val="DCE6F0"/>
                </a:solidFill>
                <a:latin typeface="Calibri" pitchFamily="34" charset="0"/>
                <a:ea typeface="Calibri" pitchFamily="34" charset="-122"/>
                <a:cs typeface="Calibri" pitchFamily="34" charset="-120"/>
              </a:rPr>
              <a:t>Understanding Booking &amp; Cancellation Behaviour  ·  2017–2019</a:t>
            </a:r>
            <a:endParaRPr lang="en-US" sz="1800" dirty="0"/>
          </a:p>
        </p:txBody>
      </p:sp>
      <p:sp>
        <p:nvSpPr>
          <p:cNvPr id="5" name="Text 3"/>
          <p:cNvSpPr/>
          <p:nvPr/>
        </p:nvSpPr>
        <p:spPr>
          <a:xfrm>
            <a:off x="822960" y="6080760"/>
            <a:ext cx="9144000" cy="365760"/>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Python  ·  Pandas  ·  NumPy  ·  Matplotlib  ·  Seaborn  ·  Jupyter Notebook</a:t>
            </a:r>
            <a:endParaRPr lang="en-US" sz="1200" dirty="0"/>
          </a:p>
        </p:txBody>
      </p:sp>
      <p:sp>
        <p:nvSpPr>
          <p:cNvPr id="6" name="Text 4"/>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200" b="1" dirty="0">
                <a:solidFill>
                  <a:srgbClr val="1B3358"/>
                </a:solidFill>
                <a:latin typeface="Cambria" pitchFamily="34" charset="0"/>
                <a:ea typeface="Cambria" pitchFamily="34" charset="-122"/>
                <a:cs typeface="Cambria" pitchFamily="34" charset="-120"/>
              </a:rPr>
              <a:t>What We'll Cover</a:t>
            </a:r>
            <a:endParaRPr lang="en-US" sz="3200" dirty="0"/>
          </a:p>
        </p:txBody>
      </p:sp>
      <p:sp>
        <p:nvSpPr>
          <p:cNvPr id="3" name="Shape 1"/>
          <p:cNvSpPr/>
          <p:nvPr/>
        </p:nvSpPr>
        <p:spPr>
          <a:xfrm>
            <a:off x="640080" y="1600200"/>
            <a:ext cx="566928" cy="566928"/>
          </a:xfrm>
          <a:prstGeom prst="ellipse">
            <a:avLst/>
          </a:prstGeom>
          <a:solidFill>
            <a:srgbClr val="1B3358"/>
          </a:solidFill>
          <a:ln/>
        </p:spPr>
      </p:sp>
      <p:sp>
        <p:nvSpPr>
          <p:cNvPr id="4" name="Text 2"/>
          <p:cNvSpPr/>
          <p:nvPr/>
        </p:nvSpPr>
        <p:spPr>
          <a:xfrm>
            <a:off x="640080" y="1600200"/>
            <a:ext cx="566928" cy="56692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5" name="Text 3"/>
          <p:cNvSpPr/>
          <p:nvPr/>
        </p:nvSpPr>
        <p:spPr>
          <a:xfrm>
            <a:off x="1463040" y="1527048"/>
            <a:ext cx="7772400" cy="365760"/>
          </a:xfrm>
          <a:prstGeom prst="rect">
            <a:avLst/>
          </a:prstGeom>
          <a:noFill/>
          <a:ln/>
        </p:spPr>
        <p:txBody>
          <a:bodyPr wrap="square" rtlCol="0" anchor="ctr"/>
          <a:lstStyle/>
          <a:p>
            <a:pPr indent="0" marL="0">
              <a:buNone/>
            </a:pPr>
            <a:r>
              <a:rPr lang="en-US" sz="1900" b="1" dirty="0">
                <a:solidFill>
                  <a:srgbClr val="1E1E1E"/>
                </a:solidFill>
                <a:latin typeface="Calibri" pitchFamily="34" charset="0"/>
                <a:ea typeface="Calibri" pitchFamily="34" charset="-122"/>
                <a:cs typeface="Calibri" pitchFamily="34" charset="-120"/>
              </a:rPr>
              <a:t>Why Booking Behaviour Matters</a:t>
            </a:r>
            <a:endParaRPr lang="en-US" sz="1900" dirty="0"/>
          </a:p>
        </p:txBody>
      </p:sp>
      <p:sp>
        <p:nvSpPr>
          <p:cNvPr id="6" name="Text 4"/>
          <p:cNvSpPr/>
          <p:nvPr/>
        </p:nvSpPr>
        <p:spPr>
          <a:xfrm>
            <a:off x="1463040" y="1874520"/>
            <a:ext cx="7772400" cy="320040"/>
          </a:xfrm>
          <a:prstGeom prst="rect">
            <a:avLst/>
          </a:prstGeom>
          <a:noFill/>
          <a:ln/>
        </p:spPr>
        <p:txBody>
          <a:bodyPr wrap="square"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The business case for this analysis</a:t>
            </a:r>
            <a:endParaRPr lang="en-US" sz="1300" dirty="0"/>
          </a:p>
        </p:txBody>
      </p:sp>
      <p:sp>
        <p:nvSpPr>
          <p:cNvPr id="7" name="Shape 5"/>
          <p:cNvSpPr/>
          <p:nvPr/>
        </p:nvSpPr>
        <p:spPr>
          <a:xfrm>
            <a:off x="640080" y="2514600"/>
            <a:ext cx="566928" cy="566928"/>
          </a:xfrm>
          <a:prstGeom prst="ellipse">
            <a:avLst/>
          </a:prstGeom>
          <a:solidFill>
            <a:srgbClr val="1B3358"/>
          </a:solidFill>
          <a:ln/>
        </p:spPr>
      </p:sp>
      <p:sp>
        <p:nvSpPr>
          <p:cNvPr id="8" name="Text 6"/>
          <p:cNvSpPr/>
          <p:nvPr/>
        </p:nvSpPr>
        <p:spPr>
          <a:xfrm>
            <a:off x="640080" y="2514600"/>
            <a:ext cx="566928" cy="56692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9" name="Text 7"/>
          <p:cNvSpPr/>
          <p:nvPr/>
        </p:nvSpPr>
        <p:spPr>
          <a:xfrm>
            <a:off x="1463040" y="2441448"/>
            <a:ext cx="7772400" cy="365760"/>
          </a:xfrm>
          <a:prstGeom prst="rect">
            <a:avLst/>
          </a:prstGeom>
          <a:noFill/>
          <a:ln/>
        </p:spPr>
        <p:txBody>
          <a:bodyPr wrap="square" rtlCol="0" anchor="ctr"/>
          <a:lstStyle/>
          <a:p>
            <a:pPr indent="0" marL="0">
              <a:buNone/>
            </a:pPr>
            <a:r>
              <a:rPr lang="en-US" sz="1900" b="1" dirty="0">
                <a:solidFill>
                  <a:srgbClr val="1E1E1E"/>
                </a:solidFill>
                <a:latin typeface="Calibri" pitchFamily="34" charset="0"/>
                <a:ea typeface="Calibri" pitchFamily="34" charset="-122"/>
                <a:cs typeface="Calibri" pitchFamily="34" charset="-120"/>
              </a:rPr>
              <a:t>The Dataset &amp; Cleaning Process</a:t>
            </a:r>
            <a:endParaRPr lang="en-US" sz="1900" dirty="0"/>
          </a:p>
        </p:txBody>
      </p:sp>
      <p:sp>
        <p:nvSpPr>
          <p:cNvPr id="10" name="Text 8"/>
          <p:cNvSpPr/>
          <p:nvPr/>
        </p:nvSpPr>
        <p:spPr>
          <a:xfrm>
            <a:off x="1463040" y="2788920"/>
            <a:ext cx="7772400" cy="320040"/>
          </a:xfrm>
          <a:prstGeom prst="rect">
            <a:avLst/>
          </a:prstGeom>
          <a:noFill/>
          <a:ln/>
        </p:spPr>
        <p:txBody>
          <a:bodyPr wrap="square"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119,390 bookings, cleaned to 85,962</a:t>
            </a:r>
            <a:endParaRPr lang="en-US" sz="1300" dirty="0"/>
          </a:p>
        </p:txBody>
      </p:sp>
      <p:sp>
        <p:nvSpPr>
          <p:cNvPr id="11" name="Shape 9"/>
          <p:cNvSpPr/>
          <p:nvPr/>
        </p:nvSpPr>
        <p:spPr>
          <a:xfrm>
            <a:off x="640080" y="3429000"/>
            <a:ext cx="566928" cy="566928"/>
          </a:xfrm>
          <a:prstGeom prst="ellipse">
            <a:avLst/>
          </a:prstGeom>
          <a:solidFill>
            <a:srgbClr val="1B3358"/>
          </a:solidFill>
          <a:ln/>
        </p:spPr>
      </p:sp>
      <p:sp>
        <p:nvSpPr>
          <p:cNvPr id="12" name="Text 10"/>
          <p:cNvSpPr/>
          <p:nvPr/>
        </p:nvSpPr>
        <p:spPr>
          <a:xfrm>
            <a:off x="640080" y="3429000"/>
            <a:ext cx="566928" cy="56692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3" name="Text 11"/>
          <p:cNvSpPr/>
          <p:nvPr/>
        </p:nvSpPr>
        <p:spPr>
          <a:xfrm>
            <a:off x="1463040" y="3355848"/>
            <a:ext cx="7772400" cy="365760"/>
          </a:xfrm>
          <a:prstGeom prst="rect">
            <a:avLst/>
          </a:prstGeom>
          <a:noFill/>
          <a:ln/>
        </p:spPr>
        <p:txBody>
          <a:bodyPr wrap="square" rtlCol="0" anchor="ctr"/>
          <a:lstStyle/>
          <a:p>
            <a:pPr indent="0" marL="0">
              <a:buNone/>
            </a:pPr>
            <a:r>
              <a:rPr lang="en-US" sz="1900" b="1" dirty="0">
                <a:solidFill>
                  <a:srgbClr val="1E1E1E"/>
                </a:solidFill>
                <a:latin typeface="Calibri" pitchFamily="34" charset="0"/>
                <a:ea typeface="Calibri" pitchFamily="34" charset="-122"/>
                <a:cs typeface="Calibri" pitchFamily="34" charset="-120"/>
              </a:rPr>
              <a:t>Three Business Questions, Answered</a:t>
            </a:r>
            <a:endParaRPr lang="en-US" sz="1900" dirty="0"/>
          </a:p>
        </p:txBody>
      </p:sp>
      <p:sp>
        <p:nvSpPr>
          <p:cNvPr id="14" name="Text 12"/>
          <p:cNvSpPr/>
          <p:nvPr/>
        </p:nvSpPr>
        <p:spPr>
          <a:xfrm>
            <a:off x="1463040" y="3703320"/>
            <a:ext cx="7772400" cy="320040"/>
          </a:xfrm>
          <a:prstGeom prst="rect">
            <a:avLst/>
          </a:prstGeom>
          <a:noFill/>
          <a:ln/>
        </p:spPr>
        <p:txBody>
          <a:bodyPr wrap="square"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Hotel type · Stay duration · Lead time</a:t>
            </a:r>
            <a:endParaRPr lang="en-US" sz="1300" dirty="0"/>
          </a:p>
        </p:txBody>
      </p:sp>
      <p:sp>
        <p:nvSpPr>
          <p:cNvPr id="15" name="Shape 13"/>
          <p:cNvSpPr/>
          <p:nvPr/>
        </p:nvSpPr>
        <p:spPr>
          <a:xfrm>
            <a:off x="640080" y="4343400"/>
            <a:ext cx="566928" cy="566928"/>
          </a:xfrm>
          <a:prstGeom prst="ellipse">
            <a:avLst/>
          </a:prstGeom>
          <a:solidFill>
            <a:srgbClr val="1B3358"/>
          </a:solidFill>
          <a:ln/>
        </p:spPr>
      </p:sp>
      <p:sp>
        <p:nvSpPr>
          <p:cNvPr id="16" name="Text 14"/>
          <p:cNvSpPr/>
          <p:nvPr/>
        </p:nvSpPr>
        <p:spPr>
          <a:xfrm>
            <a:off x="640080" y="4343400"/>
            <a:ext cx="566928" cy="56692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7" name="Text 15"/>
          <p:cNvSpPr/>
          <p:nvPr/>
        </p:nvSpPr>
        <p:spPr>
          <a:xfrm>
            <a:off x="1463040" y="4270248"/>
            <a:ext cx="7772400" cy="365760"/>
          </a:xfrm>
          <a:prstGeom prst="rect">
            <a:avLst/>
          </a:prstGeom>
          <a:noFill/>
          <a:ln/>
        </p:spPr>
        <p:txBody>
          <a:bodyPr wrap="square" rtlCol="0" anchor="ctr"/>
          <a:lstStyle/>
          <a:p>
            <a:pPr indent="0" marL="0">
              <a:buNone/>
            </a:pPr>
            <a:r>
              <a:rPr lang="en-US" sz="1900" b="1" dirty="0">
                <a:solidFill>
                  <a:srgbClr val="1E1E1E"/>
                </a:solidFill>
                <a:latin typeface="Calibri" pitchFamily="34" charset="0"/>
                <a:ea typeface="Calibri" pitchFamily="34" charset="-122"/>
                <a:cs typeface="Calibri" pitchFamily="34" charset="-120"/>
              </a:rPr>
              <a:t>Deeper Signals</a:t>
            </a:r>
            <a:endParaRPr lang="en-US" sz="1900" dirty="0"/>
          </a:p>
        </p:txBody>
      </p:sp>
      <p:sp>
        <p:nvSpPr>
          <p:cNvPr id="18" name="Text 16"/>
          <p:cNvSpPr/>
          <p:nvPr/>
        </p:nvSpPr>
        <p:spPr>
          <a:xfrm>
            <a:off x="1463040" y="4617720"/>
            <a:ext cx="7772400" cy="320040"/>
          </a:xfrm>
          <a:prstGeom prst="rect">
            <a:avLst/>
          </a:prstGeom>
          <a:noFill/>
          <a:ln/>
        </p:spPr>
        <p:txBody>
          <a:bodyPr wrap="square"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Customer type, channel, pricing patterns</a:t>
            </a:r>
            <a:endParaRPr lang="en-US" sz="1300" dirty="0"/>
          </a:p>
        </p:txBody>
      </p:sp>
      <p:sp>
        <p:nvSpPr>
          <p:cNvPr id="19" name="Shape 17"/>
          <p:cNvSpPr/>
          <p:nvPr/>
        </p:nvSpPr>
        <p:spPr>
          <a:xfrm>
            <a:off x="640080" y="5257800"/>
            <a:ext cx="566928" cy="566928"/>
          </a:xfrm>
          <a:prstGeom prst="ellipse">
            <a:avLst/>
          </a:prstGeom>
          <a:solidFill>
            <a:srgbClr val="1B3358"/>
          </a:solidFill>
          <a:ln/>
        </p:spPr>
      </p:sp>
      <p:sp>
        <p:nvSpPr>
          <p:cNvPr id="20" name="Text 18"/>
          <p:cNvSpPr/>
          <p:nvPr/>
        </p:nvSpPr>
        <p:spPr>
          <a:xfrm>
            <a:off x="640080" y="5257800"/>
            <a:ext cx="566928" cy="56692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1" name="Text 19"/>
          <p:cNvSpPr/>
          <p:nvPr/>
        </p:nvSpPr>
        <p:spPr>
          <a:xfrm>
            <a:off x="1463040" y="5184648"/>
            <a:ext cx="7772400" cy="365760"/>
          </a:xfrm>
          <a:prstGeom prst="rect">
            <a:avLst/>
          </a:prstGeom>
          <a:noFill/>
          <a:ln/>
        </p:spPr>
        <p:txBody>
          <a:bodyPr wrap="square" rtlCol="0" anchor="ctr"/>
          <a:lstStyle/>
          <a:p>
            <a:pPr indent="0" marL="0">
              <a:buNone/>
            </a:pPr>
            <a:r>
              <a:rPr lang="en-US" sz="1900" b="1" dirty="0">
                <a:solidFill>
                  <a:srgbClr val="1E1E1E"/>
                </a:solidFill>
                <a:latin typeface="Calibri" pitchFamily="34" charset="0"/>
                <a:ea typeface="Calibri" pitchFamily="34" charset="-122"/>
                <a:cs typeface="Calibri" pitchFamily="34" charset="-120"/>
              </a:rPr>
              <a:t>Recommendations</a:t>
            </a:r>
            <a:endParaRPr lang="en-US" sz="1900" dirty="0"/>
          </a:p>
        </p:txBody>
      </p:sp>
      <p:sp>
        <p:nvSpPr>
          <p:cNvPr id="22" name="Text 20"/>
          <p:cNvSpPr/>
          <p:nvPr/>
        </p:nvSpPr>
        <p:spPr>
          <a:xfrm>
            <a:off x="1463040" y="5532120"/>
            <a:ext cx="7772400" cy="320040"/>
          </a:xfrm>
          <a:prstGeom prst="rect">
            <a:avLst/>
          </a:prstGeom>
          <a:noFill/>
          <a:ln/>
        </p:spPr>
        <p:txBody>
          <a:bodyPr wrap="square"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Five data-backed actions for the business</a:t>
            </a:r>
            <a:endParaRPr lang="en-US" sz="1300" dirty="0"/>
          </a:p>
        </p:txBody>
      </p:sp>
      <p:sp>
        <p:nvSpPr>
          <p:cNvPr id="23" name="Text 21"/>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601200" cy="640080"/>
          </a:xfrm>
          <a:prstGeom prst="rect">
            <a:avLst/>
          </a:prstGeom>
          <a:noFill/>
          <a:ln/>
        </p:spPr>
        <p:txBody>
          <a:bodyPr wrap="square" rtlCol="0" anchor="ctr"/>
          <a:lstStyle/>
          <a:p>
            <a:pPr indent="0" marL="0">
              <a:buNone/>
            </a:pPr>
            <a:r>
              <a:rPr lang="en-US" sz="3000" b="1" dirty="0">
                <a:solidFill>
                  <a:srgbClr val="1B3358"/>
                </a:solidFill>
                <a:latin typeface="Cambria" pitchFamily="34" charset="0"/>
                <a:ea typeface="Cambria" pitchFamily="34" charset="-122"/>
                <a:cs typeface="Cambria" pitchFamily="34" charset="-120"/>
              </a:rPr>
              <a:t>Every Cancellation Is Lost Revenue</a:t>
            </a:r>
            <a:endParaRPr lang="en-US" sz="3000" dirty="0"/>
          </a:p>
        </p:txBody>
      </p:sp>
      <p:sp>
        <p:nvSpPr>
          <p:cNvPr id="3" name="Text 1"/>
          <p:cNvSpPr/>
          <p:nvPr/>
        </p:nvSpPr>
        <p:spPr>
          <a:xfrm>
            <a:off x="640080" y="1234440"/>
            <a:ext cx="6949440" cy="1005840"/>
          </a:xfrm>
          <a:prstGeom prst="rect">
            <a:avLst/>
          </a:prstGeom>
          <a:noFill/>
          <a:ln/>
        </p:spPr>
        <p:txBody>
          <a:bodyPr wrap="square" rtlCol="0" anchor="ctr"/>
          <a:lstStyle/>
          <a:p>
            <a:pPr indent="0" marL="0">
              <a:lnSpc>
                <a:spcPts val="2200"/>
              </a:lnSpc>
              <a:buNone/>
            </a:pPr>
            <a:r>
              <a:rPr lang="en-US" sz="1500" dirty="0">
                <a:solidFill>
                  <a:srgbClr val="1E1E1E"/>
                </a:solidFill>
                <a:latin typeface="Calibri" pitchFamily="34" charset="0"/>
                <a:ea typeface="Calibri" pitchFamily="34" charset="-122"/>
                <a:cs typeface="Calibri" pitchFamily="34" charset="-120"/>
              </a:rPr>
              <a:t>A cancelled booking isn't just an empty room — it's wasted marketing spend, a missed resale window, and a gap in the forecast a hotel already planned around.</a:t>
            </a:r>
            <a:endParaRPr lang="en-US" sz="1500" dirty="0"/>
          </a:p>
        </p:txBody>
      </p:sp>
      <p:sp>
        <p:nvSpPr>
          <p:cNvPr id="4" name="Shape 2"/>
          <p:cNvSpPr/>
          <p:nvPr/>
        </p:nvSpPr>
        <p:spPr>
          <a:xfrm>
            <a:off x="640080" y="2514600"/>
            <a:ext cx="73152" cy="713232"/>
          </a:xfrm>
          <a:prstGeom prst="rect">
            <a:avLst/>
          </a:prstGeom>
          <a:solidFill>
            <a:srgbClr val="C9822B"/>
          </a:solidFill>
          <a:ln/>
        </p:spPr>
      </p:sp>
      <p:sp>
        <p:nvSpPr>
          <p:cNvPr id="5" name="Text 3"/>
          <p:cNvSpPr/>
          <p:nvPr/>
        </p:nvSpPr>
        <p:spPr>
          <a:xfrm>
            <a:off x="914400" y="2496312"/>
            <a:ext cx="6035040" cy="365760"/>
          </a:xfrm>
          <a:prstGeom prst="rect">
            <a:avLst/>
          </a:prstGeom>
          <a:noFill/>
          <a:ln/>
        </p:spPr>
        <p:txBody>
          <a:bodyPr wrap="square" rtlCol="0" anchor="ctr"/>
          <a:lstStyle/>
          <a:p>
            <a:pPr indent="0" marL="0">
              <a:buNone/>
            </a:pPr>
            <a:r>
              <a:rPr lang="en-US" sz="1500" b="1" dirty="0">
                <a:solidFill>
                  <a:srgbClr val="1B3358"/>
                </a:solidFill>
                <a:latin typeface="Calibri" pitchFamily="34" charset="0"/>
                <a:ea typeface="Calibri" pitchFamily="34" charset="-122"/>
                <a:cs typeface="Calibri" pitchFamily="34" charset="-120"/>
              </a:rPr>
              <a:t>Revenue Management</a:t>
            </a:r>
            <a:endParaRPr lang="en-US" sz="1500" dirty="0"/>
          </a:p>
        </p:txBody>
      </p:sp>
      <p:sp>
        <p:nvSpPr>
          <p:cNvPr id="6" name="Text 4"/>
          <p:cNvSpPr/>
          <p:nvPr/>
        </p:nvSpPr>
        <p:spPr>
          <a:xfrm>
            <a:off x="914400" y="2825496"/>
            <a:ext cx="6035040" cy="411480"/>
          </a:xfrm>
          <a:prstGeom prst="rect">
            <a:avLst/>
          </a:prstGeom>
          <a:noFill/>
          <a:ln/>
        </p:spPr>
        <p:txBody>
          <a:bodyPr wrap="square" rtlCol="0" anchor="ctr"/>
          <a:lstStyle/>
          <a:p>
            <a:pPr indent="0" marL="0">
              <a:buNone/>
            </a:pPr>
            <a:r>
              <a:rPr lang="en-US" sz="1250" dirty="0">
                <a:solidFill>
                  <a:srgbClr val="5A6472"/>
                </a:solidFill>
                <a:latin typeface="Calibri" pitchFamily="34" charset="0"/>
                <a:ea typeface="Calibri" pitchFamily="34" charset="-122"/>
                <a:cs typeface="Calibri" pitchFamily="34" charset="-120"/>
              </a:rPr>
              <a:t>Set rates and minimum-stay rules by season and lead time</a:t>
            </a:r>
            <a:endParaRPr lang="en-US" sz="1250" dirty="0"/>
          </a:p>
        </p:txBody>
      </p:sp>
      <p:sp>
        <p:nvSpPr>
          <p:cNvPr id="7" name="Shape 5"/>
          <p:cNvSpPr/>
          <p:nvPr/>
        </p:nvSpPr>
        <p:spPr>
          <a:xfrm>
            <a:off x="640080" y="3447288"/>
            <a:ext cx="73152" cy="713232"/>
          </a:xfrm>
          <a:prstGeom prst="rect">
            <a:avLst/>
          </a:prstGeom>
          <a:solidFill>
            <a:srgbClr val="C9822B"/>
          </a:solidFill>
          <a:ln/>
        </p:spPr>
      </p:sp>
      <p:sp>
        <p:nvSpPr>
          <p:cNvPr id="8" name="Text 6"/>
          <p:cNvSpPr/>
          <p:nvPr/>
        </p:nvSpPr>
        <p:spPr>
          <a:xfrm>
            <a:off x="914400" y="3429000"/>
            <a:ext cx="6035040" cy="365760"/>
          </a:xfrm>
          <a:prstGeom prst="rect">
            <a:avLst/>
          </a:prstGeom>
          <a:noFill/>
          <a:ln/>
        </p:spPr>
        <p:txBody>
          <a:bodyPr wrap="square" rtlCol="0" anchor="ctr"/>
          <a:lstStyle/>
          <a:p>
            <a:pPr indent="0" marL="0">
              <a:buNone/>
            </a:pPr>
            <a:r>
              <a:rPr lang="en-US" sz="1500" b="1" dirty="0">
                <a:solidFill>
                  <a:srgbClr val="1B3358"/>
                </a:solidFill>
                <a:latin typeface="Calibri" pitchFamily="34" charset="0"/>
                <a:ea typeface="Calibri" pitchFamily="34" charset="-122"/>
                <a:cs typeface="Calibri" pitchFamily="34" charset="-120"/>
              </a:rPr>
              <a:t>Overbooking Strategy</a:t>
            </a:r>
            <a:endParaRPr lang="en-US" sz="1500" dirty="0"/>
          </a:p>
        </p:txBody>
      </p:sp>
      <p:sp>
        <p:nvSpPr>
          <p:cNvPr id="9" name="Text 7"/>
          <p:cNvSpPr/>
          <p:nvPr/>
        </p:nvSpPr>
        <p:spPr>
          <a:xfrm>
            <a:off x="914400" y="3758184"/>
            <a:ext cx="6035040" cy="411480"/>
          </a:xfrm>
          <a:prstGeom prst="rect">
            <a:avLst/>
          </a:prstGeom>
          <a:noFill/>
          <a:ln/>
        </p:spPr>
        <p:txBody>
          <a:bodyPr wrap="square" rtlCol="0" anchor="ctr"/>
          <a:lstStyle/>
          <a:p>
            <a:pPr indent="0" marL="0">
              <a:buNone/>
            </a:pPr>
            <a:r>
              <a:rPr lang="en-US" sz="1250" dirty="0">
                <a:solidFill>
                  <a:srgbClr val="5A6472"/>
                </a:solidFill>
                <a:latin typeface="Calibri" pitchFamily="34" charset="0"/>
                <a:ea typeface="Calibri" pitchFamily="34" charset="-122"/>
                <a:cs typeface="Calibri" pitchFamily="34" charset="-120"/>
              </a:rPr>
              <a:t>Calibrate inventory against expected cancellation risk</a:t>
            </a:r>
            <a:endParaRPr lang="en-US" sz="1250" dirty="0"/>
          </a:p>
        </p:txBody>
      </p:sp>
      <p:sp>
        <p:nvSpPr>
          <p:cNvPr id="10" name="Shape 8"/>
          <p:cNvSpPr/>
          <p:nvPr/>
        </p:nvSpPr>
        <p:spPr>
          <a:xfrm>
            <a:off x="640080" y="4379976"/>
            <a:ext cx="73152" cy="713232"/>
          </a:xfrm>
          <a:prstGeom prst="rect">
            <a:avLst/>
          </a:prstGeom>
          <a:solidFill>
            <a:srgbClr val="C9822B"/>
          </a:solidFill>
          <a:ln/>
        </p:spPr>
      </p:sp>
      <p:sp>
        <p:nvSpPr>
          <p:cNvPr id="11" name="Text 9"/>
          <p:cNvSpPr/>
          <p:nvPr/>
        </p:nvSpPr>
        <p:spPr>
          <a:xfrm>
            <a:off x="914400" y="4361688"/>
            <a:ext cx="6035040" cy="365760"/>
          </a:xfrm>
          <a:prstGeom prst="rect">
            <a:avLst/>
          </a:prstGeom>
          <a:noFill/>
          <a:ln/>
        </p:spPr>
        <p:txBody>
          <a:bodyPr wrap="square" rtlCol="0" anchor="ctr"/>
          <a:lstStyle/>
          <a:p>
            <a:pPr indent="0" marL="0">
              <a:buNone/>
            </a:pPr>
            <a:r>
              <a:rPr lang="en-US" sz="1500" b="1" dirty="0">
                <a:solidFill>
                  <a:srgbClr val="1B3358"/>
                </a:solidFill>
                <a:latin typeface="Calibri" pitchFamily="34" charset="0"/>
                <a:ea typeface="Calibri" pitchFamily="34" charset="-122"/>
                <a:cs typeface="Calibri" pitchFamily="34" charset="-120"/>
              </a:rPr>
              <a:t>Marketing Investment</a:t>
            </a:r>
            <a:endParaRPr lang="en-US" sz="1500" dirty="0"/>
          </a:p>
        </p:txBody>
      </p:sp>
      <p:sp>
        <p:nvSpPr>
          <p:cNvPr id="12" name="Text 10"/>
          <p:cNvSpPr/>
          <p:nvPr/>
        </p:nvSpPr>
        <p:spPr>
          <a:xfrm>
            <a:off x="914400" y="4690872"/>
            <a:ext cx="6035040" cy="411480"/>
          </a:xfrm>
          <a:prstGeom prst="rect">
            <a:avLst/>
          </a:prstGeom>
          <a:noFill/>
          <a:ln/>
        </p:spPr>
        <p:txBody>
          <a:bodyPr wrap="square" rtlCol="0" anchor="ctr"/>
          <a:lstStyle/>
          <a:p>
            <a:pPr indent="0" marL="0">
              <a:buNone/>
            </a:pPr>
            <a:r>
              <a:rPr lang="en-US" sz="1250" dirty="0">
                <a:solidFill>
                  <a:srgbClr val="5A6472"/>
                </a:solidFill>
                <a:latin typeface="Calibri" pitchFamily="34" charset="0"/>
                <a:ea typeface="Calibri" pitchFamily="34" charset="-122"/>
                <a:cs typeface="Calibri" pitchFamily="34" charset="-120"/>
              </a:rPr>
              <a:t>Balance OTA spend against direct-booking incentives</a:t>
            </a:r>
            <a:endParaRPr lang="en-US" sz="1250" dirty="0"/>
          </a:p>
        </p:txBody>
      </p:sp>
      <p:sp>
        <p:nvSpPr>
          <p:cNvPr id="13" name="Shape 11"/>
          <p:cNvSpPr/>
          <p:nvPr/>
        </p:nvSpPr>
        <p:spPr>
          <a:xfrm>
            <a:off x="640080" y="5312664"/>
            <a:ext cx="73152" cy="713232"/>
          </a:xfrm>
          <a:prstGeom prst="rect">
            <a:avLst/>
          </a:prstGeom>
          <a:solidFill>
            <a:srgbClr val="C9822B"/>
          </a:solidFill>
          <a:ln/>
        </p:spPr>
      </p:sp>
      <p:sp>
        <p:nvSpPr>
          <p:cNvPr id="14" name="Text 12"/>
          <p:cNvSpPr/>
          <p:nvPr/>
        </p:nvSpPr>
        <p:spPr>
          <a:xfrm>
            <a:off x="914400" y="5294376"/>
            <a:ext cx="6035040" cy="365760"/>
          </a:xfrm>
          <a:prstGeom prst="rect">
            <a:avLst/>
          </a:prstGeom>
          <a:noFill/>
          <a:ln/>
        </p:spPr>
        <p:txBody>
          <a:bodyPr wrap="square" rtlCol="0" anchor="ctr"/>
          <a:lstStyle/>
          <a:p>
            <a:pPr indent="0" marL="0">
              <a:buNone/>
            </a:pPr>
            <a:r>
              <a:rPr lang="en-US" sz="1500" b="1" dirty="0">
                <a:solidFill>
                  <a:srgbClr val="1B3358"/>
                </a:solidFill>
                <a:latin typeface="Calibri" pitchFamily="34" charset="0"/>
                <a:ea typeface="Calibri" pitchFamily="34" charset="-122"/>
                <a:cs typeface="Calibri" pitchFamily="34" charset="-120"/>
              </a:rPr>
              <a:t>Guest Communication</a:t>
            </a:r>
            <a:endParaRPr lang="en-US" sz="1500" dirty="0"/>
          </a:p>
        </p:txBody>
      </p:sp>
      <p:sp>
        <p:nvSpPr>
          <p:cNvPr id="15" name="Text 13"/>
          <p:cNvSpPr/>
          <p:nvPr/>
        </p:nvSpPr>
        <p:spPr>
          <a:xfrm>
            <a:off x="914400" y="5623560"/>
            <a:ext cx="6035040" cy="411480"/>
          </a:xfrm>
          <a:prstGeom prst="rect">
            <a:avLst/>
          </a:prstGeom>
          <a:noFill/>
          <a:ln/>
        </p:spPr>
        <p:txBody>
          <a:bodyPr wrap="square" rtlCol="0" anchor="ctr"/>
          <a:lstStyle/>
          <a:p>
            <a:pPr indent="0" marL="0">
              <a:buNone/>
            </a:pPr>
            <a:r>
              <a:rPr lang="en-US" sz="1250" dirty="0">
                <a:solidFill>
                  <a:srgbClr val="5A6472"/>
                </a:solidFill>
                <a:latin typeface="Calibri" pitchFamily="34" charset="0"/>
                <a:ea typeface="Calibri" pitchFamily="34" charset="-122"/>
                <a:cs typeface="Calibri" pitchFamily="34" charset="-120"/>
              </a:rPr>
              <a:t>Target reminders and deposits at the riskiest bookings</a:t>
            </a:r>
            <a:endParaRPr lang="en-US" sz="1250" dirty="0"/>
          </a:p>
        </p:txBody>
      </p:sp>
      <p:sp>
        <p:nvSpPr>
          <p:cNvPr id="16" name="Shape 14"/>
          <p:cNvSpPr/>
          <p:nvPr/>
        </p:nvSpPr>
        <p:spPr>
          <a:xfrm>
            <a:off x="7909560" y="1234440"/>
            <a:ext cx="3611880" cy="5074920"/>
          </a:xfrm>
          <a:prstGeom prst="roundRect">
            <a:avLst>
              <a:gd name="adj" fmla="val 2025"/>
            </a:avLst>
          </a:prstGeom>
          <a:solidFill>
            <a:srgbClr val="1B3358"/>
          </a:solidFill>
          <a:ln/>
        </p:spPr>
      </p:sp>
      <p:sp>
        <p:nvSpPr>
          <p:cNvPr id="17" name="Text 15"/>
          <p:cNvSpPr/>
          <p:nvPr/>
        </p:nvSpPr>
        <p:spPr>
          <a:xfrm>
            <a:off x="8183880" y="1508760"/>
            <a:ext cx="3108960" cy="320040"/>
          </a:xfrm>
          <a:prstGeom prst="rect">
            <a:avLst/>
          </a:prstGeom>
          <a:noFill/>
          <a:ln/>
        </p:spPr>
        <p:txBody>
          <a:bodyPr wrap="square" rtlCol="0" anchor="ctr"/>
          <a:lstStyle/>
          <a:p>
            <a:pPr indent="0" marL="0">
              <a:buNone/>
            </a:pPr>
            <a:r>
              <a:rPr lang="en-US" sz="1200" b="1" spc="200" kern="0" dirty="0">
                <a:solidFill>
                  <a:srgbClr val="C9822B"/>
                </a:solidFill>
                <a:latin typeface="Calibri" pitchFamily="34" charset="0"/>
                <a:ea typeface="Calibri" pitchFamily="34" charset="-122"/>
                <a:cs typeface="Calibri" pitchFamily="34" charset="-120"/>
              </a:rPr>
              <a:t>THE CORE QUESTIONS</a:t>
            </a:r>
            <a:endParaRPr lang="en-US" sz="1200" dirty="0"/>
          </a:p>
        </p:txBody>
      </p:sp>
      <p:sp>
        <p:nvSpPr>
          <p:cNvPr id="18" name="Shape 16"/>
          <p:cNvSpPr/>
          <p:nvPr/>
        </p:nvSpPr>
        <p:spPr>
          <a:xfrm>
            <a:off x="8183880" y="2057400"/>
            <a:ext cx="457200" cy="457200"/>
          </a:xfrm>
          <a:prstGeom prst="ellipse">
            <a:avLst/>
          </a:prstGeom>
          <a:solidFill>
            <a:srgbClr val="C9822B"/>
          </a:solidFill>
          <a:ln/>
        </p:spPr>
      </p:sp>
      <p:sp>
        <p:nvSpPr>
          <p:cNvPr id="19" name="Text 17"/>
          <p:cNvSpPr/>
          <p:nvPr/>
        </p:nvSpPr>
        <p:spPr>
          <a:xfrm>
            <a:off x="8183880" y="2057400"/>
            <a:ext cx="45720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1</a:t>
            </a:r>
            <a:endParaRPr lang="en-US" sz="1500" dirty="0"/>
          </a:p>
        </p:txBody>
      </p:sp>
      <p:sp>
        <p:nvSpPr>
          <p:cNvPr id="20" name="Text 18"/>
          <p:cNvSpPr/>
          <p:nvPr/>
        </p:nvSpPr>
        <p:spPr>
          <a:xfrm>
            <a:off x="8778240" y="2039112"/>
            <a:ext cx="2606040" cy="82296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Which hotel type is booked most — and when?</a:t>
            </a:r>
            <a:endParaRPr lang="en-US" sz="1300" dirty="0"/>
          </a:p>
        </p:txBody>
      </p:sp>
      <p:sp>
        <p:nvSpPr>
          <p:cNvPr id="21" name="Shape 19"/>
          <p:cNvSpPr/>
          <p:nvPr/>
        </p:nvSpPr>
        <p:spPr>
          <a:xfrm>
            <a:off x="8183880" y="3383280"/>
            <a:ext cx="457200" cy="457200"/>
          </a:xfrm>
          <a:prstGeom prst="ellipse">
            <a:avLst/>
          </a:prstGeom>
          <a:solidFill>
            <a:srgbClr val="C9822B"/>
          </a:solidFill>
          <a:ln/>
        </p:spPr>
      </p:sp>
      <p:sp>
        <p:nvSpPr>
          <p:cNvPr id="22" name="Text 20"/>
          <p:cNvSpPr/>
          <p:nvPr/>
        </p:nvSpPr>
        <p:spPr>
          <a:xfrm>
            <a:off x="8183880" y="3383280"/>
            <a:ext cx="45720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2</a:t>
            </a:r>
            <a:endParaRPr lang="en-US" sz="1500" dirty="0"/>
          </a:p>
        </p:txBody>
      </p:sp>
      <p:sp>
        <p:nvSpPr>
          <p:cNvPr id="23" name="Text 21"/>
          <p:cNvSpPr/>
          <p:nvPr/>
        </p:nvSpPr>
        <p:spPr>
          <a:xfrm>
            <a:off x="8778240" y="3364992"/>
            <a:ext cx="2606040" cy="82296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Does length of stay affect cancellation risk?</a:t>
            </a:r>
            <a:endParaRPr lang="en-US" sz="1300" dirty="0"/>
          </a:p>
        </p:txBody>
      </p:sp>
      <p:sp>
        <p:nvSpPr>
          <p:cNvPr id="24" name="Shape 22"/>
          <p:cNvSpPr/>
          <p:nvPr/>
        </p:nvSpPr>
        <p:spPr>
          <a:xfrm>
            <a:off x="8183880" y="4709160"/>
            <a:ext cx="457200" cy="457200"/>
          </a:xfrm>
          <a:prstGeom prst="ellipse">
            <a:avLst/>
          </a:prstGeom>
          <a:solidFill>
            <a:srgbClr val="C9822B"/>
          </a:solidFill>
          <a:ln/>
        </p:spPr>
      </p:sp>
      <p:sp>
        <p:nvSpPr>
          <p:cNvPr id="25" name="Text 23"/>
          <p:cNvSpPr/>
          <p:nvPr/>
        </p:nvSpPr>
        <p:spPr>
          <a:xfrm>
            <a:off x="8183880" y="4709160"/>
            <a:ext cx="45720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3</a:t>
            </a:r>
            <a:endParaRPr lang="en-US" sz="1500" dirty="0"/>
          </a:p>
        </p:txBody>
      </p:sp>
      <p:sp>
        <p:nvSpPr>
          <p:cNvPr id="26" name="Text 24"/>
          <p:cNvSpPr/>
          <p:nvPr/>
        </p:nvSpPr>
        <p:spPr>
          <a:xfrm>
            <a:off x="8778240" y="4690872"/>
            <a:ext cx="2606040" cy="822960"/>
          </a:xfrm>
          <a:prstGeom prst="rect">
            <a:avLst/>
          </a:prstGeom>
          <a:noFill/>
          <a:ln/>
        </p:spPr>
        <p:txBody>
          <a:bodyPr wrap="square"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Does lead time affect cancellation risk?</a:t>
            </a:r>
            <a:endParaRPr lang="en-US" sz="1300" dirty="0"/>
          </a:p>
        </p:txBody>
      </p:sp>
      <p:sp>
        <p:nvSpPr>
          <p:cNvPr id="27" name="Text 25"/>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200" b="1" dirty="0">
                <a:solidFill>
                  <a:srgbClr val="1B3358"/>
                </a:solidFill>
                <a:latin typeface="Cambria" pitchFamily="34" charset="0"/>
                <a:ea typeface="Cambria" pitchFamily="34" charset="-122"/>
                <a:cs typeface="Cambria" pitchFamily="34" charset="-120"/>
              </a:rPr>
              <a:t>The Dataset</a:t>
            </a:r>
            <a:endParaRPr lang="en-US" sz="3200" dirty="0"/>
          </a:p>
        </p:txBody>
      </p:sp>
      <p:sp>
        <p:nvSpPr>
          <p:cNvPr id="3" name="Text 1"/>
          <p:cNvSpPr/>
          <p:nvPr/>
        </p:nvSpPr>
        <p:spPr>
          <a:xfrm>
            <a:off x="640080" y="1143000"/>
            <a:ext cx="8686800" cy="365760"/>
          </a:xfrm>
          <a:prstGeom prst="rect">
            <a:avLst/>
          </a:prstGeom>
          <a:noFill/>
          <a:ln/>
        </p:spPr>
        <p:txBody>
          <a:bodyPr wrap="square"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A real-world hotel booking log spanning two properties and three years.</a:t>
            </a:r>
            <a:endParaRPr lang="en-US" sz="1500" dirty="0"/>
          </a:p>
        </p:txBody>
      </p:sp>
      <p:sp>
        <p:nvSpPr>
          <p:cNvPr id="4" name="Shape 2"/>
          <p:cNvSpPr/>
          <p:nvPr/>
        </p:nvSpPr>
        <p:spPr>
          <a:xfrm>
            <a:off x="640080" y="1965960"/>
            <a:ext cx="2606040" cy="1554480"/>
          </a:xfrm>
          <a:prstGeom prst="roundRect">
            <a:avLst>
              <a:gd name="adj" fmla="val 4706"/>
            </a:avLst>
          </a:prstGeom>
          <a:solidFill>
            <a:srgbClr val="FAFBFC"/>
          </a:solidFill>
          <a:ln w="12700">
            <a:solidFill>
              <a:srgbClr val="E3E7EC"/>
            </a:solidFill>
            <a:prstDash val="solid"/>
          </a:ln>
        </p:spPr>
      </p:sp>
      <p:sp>
        <p:nvSpPr>
          <p:cNvPr id="5" name="Text 3"/>
          <p:cNvSpPr/>
          <p:nvPr/>
        </p:nvSpPr>
        <p:spPr>
          <a:xfrm>
            <a:off x="640080" y="2194560"/>
            <a:ext cx="2606040" cy="640080"/>
          </a:xfrm>
          <a:prstGeom prst="rect">
            <a:avLst/>
          </a:prstGeom>
          <a:noFill/>
          <a:ln/>
        </p:spPr>
        <p:txBody>
          <a:bodyPr wrap="square" rtlCol="0" anchor="ctr"/>
          <a:lstStyle/>
          <a:p>
            <a:pPr algn="ctr" indent="0" marL="0">
              <a:buNone/>
            </a:pPr>
            <a:r>
              <a:rPr lang="en-US" sz="2800" b="1" dirty="0">
                <a:solidFill>
                  <a:srgbClr val="1B3358"/>
                </a:solidFill>
                <a:latin typeface="Cambria" pitchFamily="34" charset="0"/>
                <a:ea typeface="Cambria" pitchFamily="34" charset="-122"/>
                <a:cs typeface="Cambria" pitchFamily="34" charset="-120"/>
              </a:rPr>
              <a:t>119,390</a:t>
            </a:r>
            <a:endParaRPr lang="en-US" sz="2800" dirty="0"/>
          </a:p>
        </p:txBody>
      </p:sp>
      <p:sp>
        <p:nvSpPr>
          <p:cNvPr id="6" name="Text 4"/>
          <p:cNvSpPr/>
          <p:nvPr/>
        </p:nvSpPr>
        <p:spPr>
          <a:xfrm>
            <a:off x="640080" y="2880360"/>
            <a:ext cx="2606040" cy="457200"/>
          </a:xfrm>
          <a:prstGeom prst="rect">
            <a:avLst/>
          </a:prstGeom>
          <a:noFill/>
          <a:ln/>
        </p:spPr>
        <p:txBody>
          <a:bodyPr wrap="square"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Total Bookings</a:t>
            </a:r>
            <a:endParaRPr lang="en-US" sz="1250" dirty="0"/>
          </a:p>
        </p:txBody>
      </p:sp>
      <p:sp>
        <p:nvSpPr>
          <p:cNvPr id="7" name="Shape 5"/>
          <p:cNvSpPr/>
          <p:nvPr/>
        </p:nvSpPr>
        <p:spPr>
          <a:xfrm>
            <a:off x="3429000" y="1965960"/>
            <a:ext cx="2606040" cy="1554480"/>
          </a:xfrm>
          <a:prstGeom prst="roundRect">
            <a:avLst>
              <a:gd name="adj" fmla="val 4706"/>
            </a:avLst>
          </a:prstGeom>
          <a:solidFill>
            <a:srgbClr val="FAFBFC"/>
          </a:solidFill>
          <a:ln w="12700">
            <a:solidFill>
              <a:srgbClr val="E3E7EC"/>
            </a:solidFill>
            <a:prstDash val="solid"/>
          </a:ln>
        </p:spPr>
      </p:sp>
      <p:sp>
        <p:nvSpPr>
          <p:cNvPr id="8" name="Text 6"/>
          <p:cNvSpPr/>
          <p:nvPr/>
        </p:nvSpPr>
        <p:spPr>
          <a:xfrm>
            <a:off x="3429000" y="2194560"/>
            <a:ext cx="2606040" cy="640080"/>
          </a:xfrm>
          <a:prstGeom prst="rect">
            <a:avLst/>
          </a:prstGeom>
          <a:noFill/>
          <a:ln/>
        </p:spPr>
        <p:txBody>
          <a:bodyPr wrap="square" rtlCol="0" anchor="ctr"/>
          <a:lstStyle/>
          <a:p>
            <a:pPr algn="ctr" indent="0" marL="0">
              <a:buNone/>
            </a:pPr>
            <a:r>
              <a:rPr lang="en-US" sz="2800" b="1" dirty="0">
                <a:solidFill>
                  <a:srgbClr val="1B3358"/>
                </a:solidFill>
                <a:latin typeface="Cambria" pitchFamily="34" charset="0"/>
                <a:ea typeface="Cambria" pitchFamily="34" charset="-122"/>
                <a:cs typeface="Cambria" pitchFamily="34" charset="-120"/>
              </a:rPr>
              <a:t>29</a:t>
            </a:r>
            <a:endParaRPr lang="en-US" sz="2800" dirty="0"/>
          </a:p>
        </p:txBody>
      </p:sp>
      <p:sp>
        <p:nvSpPr>
          <p:cNvPr id="9" name="Text 7"/>
          <p:cNvSpPr/>
          <p:nvPr/>
        </p:nvSpPr>
        <p:spPr>
          <a:xfrm>
            <a:off x="3429000" y="2880360"/>
            <a:ext cx="2606040" cy="457200"/>
          </a:xfrm>
          <a:prstGeom prst="rect">
            <a:avLst/>
          </a:prstGeom>
          <a:noFill/>
          <a:ln/>
        </p:spPr>
        <p:txBody>
          <a:bodyPr wrap="square"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Features per Booking</a:t>
            </a:r>
            <a:endParaRPr lang="en-US" sz="1250" dirty="0"/>
          </a:p>
        </p:txBody>
      </p:sp>
      <p:sp>
        <p:nvSpPr>
          <p:cNvPr id="10" name="Shape 8"/>
          <p:cNvSpPr/>
          <p:nvPr/>
        </p:nvSpPr>
        <p:spPr>
          <a:xfrm>
            <a:off x="6217920" y="1965960"/>
            <a:ext cx="2606040" cy="1554480"/>
          </a:xfrm>
          <a:prstGeom prst="roundRect">
            <a:avLst>
              <a:gd name="adj" fmla="val 4706"/>
            </a:avLst>
          </a:prstGeom>
          <a:solidFill>
            <a:srgbClr val="FAFBFC"/>
          </a:solidFill>
          <a:ln w="12700">
            <a:solidFill>
              <a:srgbClr val="E3E7EC"/>
            </a:solidFill>
            <a:prstDash val="solid"/>
          </a:ln>
        </p:spPr>
      </p:sp>
      <p:sp>
        <p:nvSpPr>
          <p:cNvPr id="11" name="Text 9"/>
          <p:cNvSpPr/>
          <p:nvPr/>
        </p:nvSpPr>
        <p:spPr>
          <a:xfrm>
            <a:off x="6217920" y="2194560"/>
            <a:ext cx="2606040" cy="640080"/>
          </a:xfrm>
          <a:prstGeom prst="rect">
            <a:avLst/>
          </a:prstGeom>
          <a:noFill/>
          <a:ln/>
        </p:spPr>
        <p:txBody>
          <a:bodyPr wrap="square" rtlCol="0" anchor="ctr"/>
          <a:lstStyle/>
          <a:p>
            <a:pPr algn="ctr" indent="0" marL="0">
              <a:buNone/>
            </a:pPr>
            <a:r>
              <a:rPr lang="en-US" sz="2800" b="1" dirty="0">
                <a:solidFill>
                  <a:srgbClr val="1B3358"/>
                </a:solidFill>
                <a:latin typeface="Cambria" pitchFamily="34" charset="0"/>
                <a:ea typeface="Cambria" pitchFamily="34" charset="-122"/>
                <a:cs typeface="Cambria" pitchFamily="34" charset="-120"/>
              </a:rPr>
              <a:t>2017–2019</a:t>
            </a:r>
            <a:endParaRPr lang="en-US" sz="2800" dirty="0"/>
          </a:p>
        </p:txBody>
      </p:sp>
      <p:sp>
        <p:nvSpPr>
          <p:cNvPr id="12" name="Text 10"/>
          <p:cNvSpPr/>
          <p:nvPr/>
        </p:nvSpPr>
        <p:spPr>
          <a:xfrm>
            <a:off x="6217920" y="2880360"/>
            <a:ext cx="2606040" cy="457200"/>
          </a:xfrm>
          <a:prstGeom prst="rect">
            <a:avLst/>
          </a:prstGeom>
          <a:noFill/>
          <a:ln/>
        </p:spPr>
        <p:txBody>
          <a:bodyPr wrap="square"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Period Covered</a:t>
            </a:r>
            <a:endParaRPr lang="en-US" sz="1250" dirty="0"/>
          </a:p>
        </p:txBody>
      </p:sp>
      <p:sp>
        <p:nvSpPr>
          <p:cNvPr id="13" name="Shape 11"/>
          <p:cNvSpPr/>
          <p:nvPr/>
        </p:nvSpPr>
        <p:spPr>
          <a:xfrm>
            <a:off x="9006840" y="1965960"/>
            <a:ext cx="2606040" cy="1554480"/>
          </a:xfrm>
          <a:prstGeom prst="roundRect">
            <a:avLst>
              <a:gd name="adj" fmla="val 4706"/>
            </a:avLst>
          </a:prstGeom>
          <a:solidFill>
            <a:srgbClr val="FAFBFC"/>
          </a:solidFill>
          <a:ln w="12700">
            <a:solidFill>
              <a:srgbClr val="E3E7EC"/>
            </a:solidFill>
            <a:prstDash val="solid"/>
          </a:ln>
        </p:spPr>
      </p:sp>
      <p:sp>
        <p:nvSpPr>
          <p:cNvPr id="14" name="Text 12"/>
          <p:cNvSpPr/>
          <p:nvPr/>
        </p:nvSpPr>
        <p:spPr>
          <a:xfrm>
            <a:off x="9006840" y="2194560"/>
            <a:ext cx="2606040" cy="640080"/>
          </a:xfrm>
          <a:prstGeom prst="rect">
            <a:avLst/>
          </a:prstGeom>
          <a:noFill/>
          <a:ln/>
        </p:spPr>
        <p:txBody>
          <a:bodyPr wrap="square" rtlCol="0" anchor="ctr"/>
          <a:lstStyle/>
          <a:p>
            <a:pPr algn="ctr" indent="0" marL="0">
              <a:buNone/>
            </a:pPr>
            <a:r>
              <a:rPr lang="en-US" sz="2800" b="1" dirty="0">
                <a:solidFill>
                  <a:srgbClr val="1B3358"/>
                </a:solidFill>
                <a:latin typeface="Cambria" pitchFamily="34" charset="0"/>
                <a:ea typeface="Cambria" pitchFamily="34" charset="-122"/>
                <a:cs typeface="Cambria" pitchFamily="34" charset="-120"/>
              </a:rPr>
              <a:t>2</a:t>
            </a:r>
            <a:endParaRPr lang="en-US" sz="2800" dirty="0"/>
          </a:p>
        </p:txBody>
      </p:sp>
      <p:sp>
        <p:nvSpPr>
          <p:cNvPr id="15" name="Text 13"/>
          <p:cNvSpPr/>
          <p:nvPr/>
        </p:nvSpPr>
        <p:spPr>
          <a:xfrm>
            <a:off x="9006840" y="2880360"/>
            <a:ext cx="2606040" cy="457200"/>
          </a:xfrm>
          <a:prstGeom prst="rect">
            <a:avLst/>
          </a:prstGeom>
          <a:noFill/>
          <a:ln/>
        </p:spPr>
        <p:txBody>
          <a:bodyPr wrap="square"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Hotel Properties</a:t>
            </a:r>
            <a:endParaRPr lang="en-US" sz="1250" dirty="0"/>
          </a:p>
        </p:txBody>
      </p:sp>
      <p:sp>
        <p:nvSpPr>
          <p:cNvPr id="16" name="Text 14"/>
          <p:cNvSpPr/>
          <p:nvPr/>
        </p:nvSpPr>
        <p:spPr>
          <a:xfrm>
            <a:off x="640080" y="3886200"/>
            <a:ext cx="7315200" cy="365760"/>
          </a:xfrm>
          <a:prstGeom prst="rect">
            <a:avLst/>
          </a:prstGeom>
          <a:noFill/>
          <a:ln/>
        </p:spPr>
        <p:txBody>
          <a:bodyPr wrap="square" rtlCol="0" anchor="ctr"/>
          <a:lstStyle/>
          <a:p>
            <a:pPr indent="0" marL="0">
              <a:buNone/>
            </a:pPr>
            <a:r>
              <a:rPr lang="en-US" sz="1500" b="1" dirty="0">
                <a:solidFill>
                  <a:srgbClr val="1B3358"/>
                </a:solidFill>
                <a:latin typeface="Calibri" pitchFamily="34" charset="0"/>
                <a:ea typeface="Calibri" pitchFamily="34" charset="-122"/>
                <a:cs typeface="Calibri" pitchFamily="34" charset="-120"/>
              </a:rPr>
              <a:t>Columns most relevant to this analysis:</a:t>
            </a:r>
            <a:endParaRPr lang="en-US" sz="1500" dirty="0"/>
          </a:p>
        </p:txBody>
      </p:sp>
      <p:sp>
        <p:nvSpPr>
          <p:cNvPr id="17" name="Text 15"/>
          <p:cNvSpPr/>
          <p:nvPr/>
        </p:nvSpPr>
        <p:spPr>
          <a:xfrm>
            <a:off x="640080" y="4343400"/>
            <a:ext cx="5394960" cy="365760"/>
          </a:xfrm>
          <a:prstGeom prst="rect">
            <a:avLst/>
          </a:prstGeom>
          <a:noFill/>
          <a:ln/>
        </p:spPr>
        <p:txBody>
          <a:bodyPr wrap="square" rtlCol="0" anchor="ctr"/>
          <a:lstStyle/>
          <a:p>
            <a:pPr indent="0" marL="0">
              <a:buNone/>
            </a:pPr>
            <a:r>
              <a:rPr lang="en-US" sz="1300" dirty="0">
                <a:solidFill>
                  <a:srgbClr val="1E1E1E"/>
                </a:solidFill>
                <a:latin typeface="Calibri" pitchFamily="34" charset="0"/>
                <a:ea typeface="Calibri" pitchFamily="34" charset="-122"/>
                <a:cs typeface="Calibri" pitchFamily="34" charset="-120"/>
              </a:rPr>
              <a:t>•  hotel — City or Resort</a:t>
            </a:r>
            <a:endParaRPr lang="en-US" sz="1300" dirty="0"/>
          </a:p>
        </p:txBody>
      </p:sp>
      <p:sp>
        <p:nvSpPr>
          <p:cNvPr id="18" name="Text 16"/>
          <p:cNvSpPr/>
          <p:nvPr/>
        </p:nvSpPr>
        <p:spPr>
          <a:xfrm>
            <a:off x="6126480" y="4343400"/>
            <a:ext cx="5394960" cy="365760"/>
          </a:xfrm>
          <a:prstGeom prst="rect">
            <a:avLst/>
          </a:prstGeom>
          <a:noFill/>
          <a:ln/>
        </p:spPr>
        <p:txBody>
          <a:bodyPr wrap="square" rtlCol="0" anchor="ctr"/>
          <a:lstStyle/>
          <a:p>
            <a:pPr indent="0" marL="0">
              <a:buNone/>
            </a:pPr>
            <a:r>
              <a:rPr lang="en-US" sz="1300" dirty="0">
                <a:solidFill>
                  <a:srgbClr val="1E1E1E"/>
                </a:solidFill>
                <a:latin typeface="Calibri" pitchFamily="34" charset="0"/>
                <a:ea typeface="Calibri" pitchFamily="34" charset="-122"/>
                <a:cs typeface="Calibri" pitchFamily="34" charset="-120"/>
              </a:rPr>
              <a:t>•  is_canceled — cancellation flag</a:t>
            </a:r>
            <a:endParaRPr lang="en-US" sz="1300" dirty="0"/>
          </a:p>
        </p:txBody>
      </p:sp>
      <p:sp>
        <p:nvSpPr>
          <p:cNvPr id="19" name="Text 17"/>
          <p:cNvSpPr/>
          <p:nvPr/>
        </p:nvSpPr>
        <p:spPr>
          <a:xfrm>
            <a:off x="640080" y="4800600"/>
            <a:ext cx="5394960" cy="365760"/>
          </a:xfrm>
          <a:prstGeom prst="rect">
            <a:avLst/>
          </a:prstGeom>
          <a:noFill/>
          <a:ln/>
        </p:spPr>
        <p:txBody>
          <a:bodyPr wrap="square" rtlCol="0" anchor="ctr"/>
          <a:lstStyle/>
          <a:p>
            <a:pPr indent="0" marL="0">
              <a:buNone/>
            </a:pPr>
            <a:r>
              <a:rPr lang="en-US" sz="1300" dirty="0">
                <a:solidFill>
                  <a:srgbClr val="1E1E1E"/>
                </a:solidFill>
                <a:latin typeface="Calibri" pitchFamily="34" charset="0"/>
                <a:ea typeface="Calibri" pitchFamily="34" charset="-122"/>
                <a:cs typeface="Calibri" pitchFamily="34" charset="-120"/>
              </a:rPr>
              <a:t>•  lead_time — days before arrival</a:t>
            </a:r>
            <a:endParaRPr lang="en-US" sz="1300" dirty="0"/>
          </a:p>
        </p:txBody>
      </p:sp>
      <p:sp>
        <p:nvSpPr>
          <p:cNvPr id="20" name="Text 18"/>
          <p:cNvSpPr/>
          <p:nvPr/>
        </p:nvSpPr>
        <p:spPr>
          <a:xfrm>
            <a:off x="6126480" y="4800600"/>
            <a:ext cx="5394960" cy="365760"/>
          </a:xfrm>
          <a:prstGeom prst="rect">
            <a:avLst/>
          </a:prstGeom>
          <a:noFill/>
          <a:ln/>
        </p:spPr>
        <p:txBody>
          <a:bodyPr wrap="square" rtlCol="0" anchor="ctr"/>
          <a:lstStyle/>
          <a:p>
            <a:pPr indent="0" marL="0">
              <a:buNone/>
            </a:pPr>
            <a:r>
              <a:rPr lang="en-US" sz="1300" dirty="0">
                <a:solidFill>
                  <a:srgbClr val="1E1E1E"/>
                </a:solidFill>
                <a:latin typeface="Calibri" pitchFamily="34" charset="0"/>
                <a:ea typeface="Calibri" pitchFamily="34" charset="-122"/>
                <a:cs typeface="Calibri" pitchFamily="34" charset="-120"/>
              </a:rPr>
              <a:t>•  stays_in_*_nights — length of stay</a:t>
            </a:r>
            <a:endParaRPr lang="en-US" sz="1300" dirty="0"/>
          </a:p>
        </p:txBody>
      </p:sp>
      <p:sp>
        <p:nvSpPr>
          <p:cNvPr id="21" name="Text 19"/>
          <p:cNvSpPr/>
          <p:nvPr/>
        </p:nvSpPr>
        <p:spPr>
          <a:xfrm>
            <a:off x="640080" y="5257800"/>
            <a:ext cx="5394960" cy="365760"/>
          </a:xfrm>
          <a:prstGeom prst="rect">
            <a:avLst/>
          </a:prstGeom>
          <a:noFill/>
          <a:ln/>
        </p:spPr>
        <p:txBody>
          <a:bodyPr wrap="square" rtlCol="0" anchor="ctr"/>
          <a:lstStyle/>
          <a:p>
            <a:pPr indent="0" marL="0">
              <a:buNone/>
            </a:pPr>
            <a:r>
              <a:rPr lang="en-US" sz="1300" dirty="0">
                <a:solidFill>
                  <a:srgbClr val="1E1E1E"/>
                </a:solidFill>
                <a:latin typeface="Calibri" pitchFamily="34" charset="0"/>
                <a:ea typeface="Calibri" pitchFamily="34" charset="-122"/>
                <a:cs typeface="Calibri" pitchFamily="34" charset="-120"/>
              </a:rPr>
              <a:t>•  adr — average daily rate</a:t>
            </a:r>
            <a:endParaRPr lang="en-US" sz="1300" dirty="0"/>
          </a:p>
        </p:txBody>
      </p:sp>
      <p:sp>
        <p:nvSpPr>
          <p:cNvPr id="22" name="Text 20"/>
          <p:cNvSpPr/>
          <p:nvPr/>
        </p:nvSpPr>
        <p:spPr>
          <a:xfrm>
            <a:off x="6126480" y="5257800"/>
            <a:ext cx="5394960" cy="365760"/>
          </a:xfrm>
          <a:prstGeom prst="rect">
            <a:avLst/>
          </a:prstGeom>
          <a:noFill/>
          <a:ln/>
        </p:spPr>
        <p:txBody>
          <a:bodyPr wrap="square" rtlCol="0" anchor="ctr"/>
          <a:lstStyle/>
          <a:p>
            <a:pPr indent="0" marL="0">
              <a:buNone/>
            </a:pPr>
            <a:r>
              <a:rPr lang="en-US" sz="1300" dirty="0">
                <a:solidFill>
                  <a:srgbClr val="1E1E1E"/>
                </a:solidFill>
                <a:latin typeface="Calibri" pitchFamily="34" charset="0"/>
                <a:ea typeface="Calibri" pitchFamily="34" charset="-122"/>
                <a:cs typeface="Calibri" pitchFamily="34" charset="-120"/>
              </a:rPr>
              <a:t>•  customer_type &amp; market_segment</a:t>
            </a:r>
            <a:endParaRPr lang="en-US" sz="1300" dirty="0"/>
          </a:p>
        </p:txBody>
      </p:sp>
      <p:sp>
        <p:nvSpPr>
          <p:cNvPr id="23" name="Text 21"/>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rtlCol="0" anchor="ctr"/>
          <a:lstStyle/>
          <a:p>
            <a:pPr indent="0" marL="0">
              <a:buNone/>
            </a:pPr>
            <a:r>
              <a:rPr lang="en-US" sz="3000" b="1" dirty="0">
                <a:solidFill>
                  <a:srgbClr val="1B3358"/>
                </a:solidFill>
                <a:latin typeface="Cambria" pitchFamily="34" charset="0"/>
                <a:ea typeface="Cambria" pitchFamily="34" charset="-122"/>
                <a:cs typeface="Cambria" pitchFamily="34" charset="-120"/>
              </a:rPr>
              <a:t>Getting the Data Analysis-Ready</a:t>
            </a:r>
            <a:endParaRPr lang="en-US" sz="3000" dirty="0"/>
          </a:p>
        </p:txBody>
      </p:sp>
      <p:sp>
        <p:nvSpPr>
          <p:cNvPr id="3" name="Shape 1"/>
          <p:cNvSpPr/>
          <p:nvPr/>
        </p:nvSpPr>
        <p:spPr>
          <a:xfrm>
            <a:off x="640080" y="2194560"/>
            <a:ext cx="1965960" cy="1737360"/>
          </a:xfrm>
          <a:prstGeom prst="roundRect">
            <a:avLst>
              <a:gd name="adj" fmla="val 3684"/>
            </a:avLst>
          </a:prstGeom>
          <a:solidFill>
            <a:srgbClr val="FAFBFC"/>
          </a:solidFill>
          <a:ln w="12700">
            <a:solidFill>
              <a:srgbClr val="E3E7EC"/>
            </a:solidFill>
            <a:prstDash val="solid"/>
          </a:ln>
        </p:spPr>
      </p:sp>
      <p:sp>
        <p:nvSpPr>
          <p:cNvPr id="4" name="Text 2"/>
          <p:cNvSpPr/>
          <p:nvPr/>
        </p:nvSpPr>
        <p:spPr>
          <a:xfrm>
            <a:off x="731520" y="2359152"/>
            <a:ext cx="178308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Impute</a:t>
            </a:r>
            <a:endParaRPr lang="en-US" sz="1500" dirty="0"/>
          </a:p>
        </p:txBody>
      </p:sp>
      <p:sp>
        <p:nvSpPr>
          <p:cNvPr id="5" name="Text 3"/>
          <p:cNvSpPr/>
          <p:nvPr/>
        </p:nvSpPr>
        <p:spPr>
          <a:xfrm>
            <a:off x="749808" y="2880360"/>
            <a:ext cx="1746504" cy="914400"/>
          </a:xfrm>
          <a:prstGeom prst="rect">
            <a:avLst/>
          </a:prstGeom>
          <a:noFill/>
          <a:ln/>
        </p:spPr>
        <p:txBody>
          <a:bodyPr wrap="square"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Missing children, city, agent, company</a:t>
            </a:r>
            <a:endParaRPr lang="en-US" sz="1100" dirty="0"/>
          </a:p>
        </p:txBody>
      </p:sp>
      <p:sp>
        <p:nvSpPr>
          <p:cNvPr id="6" name="Text 4"/>
          <p:cNvSpPr/>
          <p:nvPr/>
        </p:nvSpPr>
        <p:spPr>
          <a:xfrm>
            <a:off x="2606040" y="2788920"/>
            <a:ext cx="256032" cy="548640"/>
          </a:xfrm>
          <a:prstGeom prst="rect">
            <a:avLst/>
          </a:prstGeom>
          <a:noFill/>
          <a:ln/>
        </p:spPr>
        <p:txBody>
          <a:bodyPr wrap="square" rtlCol="0" anchor="ctr"/>
          <a:lstStyle/>
          <a:p>
            <a:pPr algn="ctr" indent="0" marL="0">
              <a:buNone/>
            </a:pPr>
            <a:r>
              <a:rPr lang="en-US" sz="1600" b="1" dirty="0">
                <a:solidFill>
                  <a:srgbClr val="C9822B"/>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862072" y="2194560"/>
            <a:ext cx="1965960" cy="1737360"/>
          </a:xfrm>
          <a:prstGeom prst="roundRect">
            <a:avLst>
              <a:gd name="adj" fmla="val 3684"/>
            </a:avLst>
          </a:prstGeom>
          <a:solidFill>
            <a:srgbClr val="FAFBFC"/>
          </a:solidFill>
          <a:ln w="12700">
            <a:solidFill>
              <a:srgbClr val="E3E7EC"/>
            </a:solidFill>
            <a:prstDash val="solid"/>
          </a:ln>
        </p:spPr>
      </p:sp>
      <p:sp>
        <p:nvSpPr>
          <p:cNvPr id="8" name="Text 6"/>
          <p:cNvSpPr/>
          <p:nvPr/>
        </p:nvSpPr>
        <p:spPr>
          <a:xfrm>
            <a:off x="2953512" y="2359152"/>
            <a:ext cx="178308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Deduplicate</a:t>
            </a:r>
            <a:endParaRPr lang="en-US" sz="1500" dirty="0"/>
          </a:p>
        </p:txBody>
      </p:sp>
      <p:sp>
        <p:nvSpPr>
          <p:cNvPr id="9" name="Text 7"/>
          <p:cNvSpPr/>
          <p:nvPr/>
        </p:nvSpPr>
        <p:spPr>
          <a:xfrm>
            <a:off x="2971800" y="2880360"/>
            <a:ext cx="1746504" cy="914400"/>
          </a:xfrm>
          <a:prstGeom prst="rect">
            <a:avLst/>
          </a:prstGeom>
          <a:noFill/>
          <a:ln/>
        </p:spPr>
        <p:txBody>
          <a:bodyPr wrap="square"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Drop exact duplicate rows</a:t>
            </a:r>
            <a:endParaRPr lang="en-US" sz="1100" dirty="0"/>
          </a:p>
        </p:txBody>
      </p:sp>
      <p:sp>
        <p:nvSpPr>
          <p:cNvPr id="10" name="Text 8"/>
          <p:cNvSpPr/>
          <p:nvPr/>
        </p:nvSpPr>
        <p:spPr>
          <a:xfrm>
            <a:off x="4828032" y="2788920"/>
            <a:ext cx="256032" cy="548640"/>
          </a:xfrm>
          <a:prstGeom prst="rect">
            <a:avLst/>
          </a:prstGeom>
          <a:noFill/>
          <a:ln/>
        </p:spPr>
        <p:txBody>
          <a:bodyPr wrap="square" rtlCol="0" anchor="ctr"/>
          <a:lstStyle/>
          <a:p>
            <a:pPr algn="ctr" indent="0" marL="0">
              <a:buNone/>
            </a:pPr>
            <a:r>
              <a:rPr lang="en-US" sz="1600" b="1" dirty="0">
                <a:solidFill>
                  <a:srgbClr val="C9822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5084064" y="2194560"/>
            <a:ext cx="1965960" cy="1737360"/>
          </a:xfrm>
          <a:prstGeom prst="roundRect">
            <a:avLst>
              <a:gd name="adj" fmla="val 3684"/>
            </a:avLst>
          </a:prstGeom>
          <a:solidFill>
            <a:srgbClr val="FAFBFC"/>
          </a:solidFill>
          <a:ln w="12700">
            <a:solidFill>
              <a:srgbClr val="E3E7EC"/>
            </a:solidFill>
            <a:prstDash val="solid"/>
          </a:ln>
        </p:spPr>
      </p:sp>
      <p:sp>
        <p:nvSpPr>
          <p:cNvPr id="12" name="Text 10"/>
          <p:cNvSpPr/>
          <p:nvPr/>
        </p:nvSpPr>
        <p:spPr>
          <a:xfrm>
            <a:off x="5175504" y="2359152"/>
            <a:ext cx="178308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Standardize</a:t>
            </a:r>
            <a:endParaRPr lang="en-US" sz="1500" dirty="0"/>
          </a:p>
        </p:txBody>
      </p:sp>
      <p:sp>
        <p:nvSpPr>
          <p:cNvPr id="13" name="Text 11"/>
          <p:cNvSpPr/>
          <p:nvPr/>
        </p:nvSpPr>
        <p:spPr>
          <a:xfrm>
            <a:off x="5193792" y="2880360"/>
            <a:ext cx="1746504" cy="914400"/>
          </a:xfrm>
          <a:prstGeom prst="rect">
            <a:avLst/>
          </a:prstGeom>
          <a:noFill/>
          <a:ln/>
        </p:spPr>
        <p:txBody>
          <a:bodyPr wrap="square"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'Undefined' meal → 'No Meal'</a:t>
            </a:r>
            <a:endParaRPr lang="en-US" sz="1100" dirty="0"/>
          </a:p>
        </p:txBody>
      </p:sp>
      <p:sp>
        <p:nvSpPr>
          <p:cNvPr id="14" name="Text 12"/>
          <p:cNvSpPr/>
          <p:nvPr/>
        </p:nvSpPr>
        <p:spPr>
          <a:xfrm>
            <a:off x="7050024" y="2788920"/>
            <a:ext cx="256032" cy="548640"/>
          </a:xfrm>
          <a:prstGeom prst="rect">
            <a:avLst/>
          </a:prstGeom>
          <a:noFill/>
          <a:ln/>
        </p:spPr>
        <p:txBody>
          <a:bodyPr wrap="square" rtlCol="0" anchor="ctr"/>
          <a:lstStyle/>
          <a:p>
            <a:pPr algn="ctr" indent="0" marL="0">
              <a:buNone/>
            </a:pPr>
            <a:r>
              <a:rPr lang="en-US" sz="1600" b="1" dirty="0">
                <a:solidFill>
                  <a:srgbClr val="C9822B"/>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7306056" y="2194560"/>
            <a:ext cx="1965960" cy="1737360"/>
          </a:xfrm>
          <a:prstGeom prst="roundRect">
            <a:avLst>
              <a:gd name="adj" fmla="val 3684"/>
            </a:avLst>
          </a:prstGeom>
          <a:solidFill>
            <a:srgbClr val="FAFBFC"/>
          </a:solidFill>
          <a:ln w="12700">
            <a:solidFill>
              <a:srgbClr val="E3E7EC"/>
            </a:solidFill>
            <a:prstDash val="solid"/>
          </a:ln>
        </p:spPr>
      </p:sp>
      <p:sp>
        <p:nvSpPr>
          <p:cNvPr id="16" name="Text 14"/>
          <p:cNvSpPr/>
          <p:nvPr/>
        </p:nvSpPr>
        <p:spPr>
          <a:xfrm>
            <a:off x="7397496" y="2359152"/>
            <a:ext cx="1783080" cy="457200"/>
          </a:xfrm>
          <a:prstGeom prst="rect">
            <a:avLst/>
          </a:prstGeom>
          <a:noFill/>
          <a:ln/>
        </p:spPr>
        <p:txBody>
          <a:bodyPr wrap="square" rtlCol="0" anchor="ctr"/>
          <a:lstStyle/>
          <a:p>
            <a:pPr algn="ctr" indent="0" marL="0">
              <a:buNone/>
            </a:pPr>
            <a:r>
              <a:rPr lang="en-US" sz="1500" b="1" dirty="0">
                <a:solidFill>
                  <a:srgbClr val="1B3358"/>
                </a:solidFill>
                <a:latin typeface="Calibri" pitchFamily="34" charset="0"/>
                <a:ea typeface="Calibri" pitchFamily="34" charset="-122"/>
                <a:cs typeface="Calibri" pitchFamily="34" charset="-120"/>
              </a:rPr>
              <a:t>Filter Anomalies</a:t>
            </a:r>
            <a:endParaRPr lang="en-US" sz="1500" dirty="0"/>
          </a:p>
        </p:txBody>
      </p:sp>
      <p:sp>
        <p:nvSpPr>
          <p:cNvPr id="17" name="Text 15"/>
          <p:cNvSpPr/>
          <p:nvPr/>
        </p:nvSpPr>
        <p:spPr>
          <a:xfrm>
            <a:off x="7415784" y="2880360"/>
            <a:ext cx="1746504" cy="914400"/>
          </a:xfrm>
          <a:prstGeom prst="rect">
            <a:avLst/>
          </a:prstGeom>
          <a:noFill/>
          <a:ln/>
        </p:spPr>
        <p:txBody>
          <a:bodyPr wrap="square"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Invalid ADR &amp; zero-occupancy rows</a:t>
            </a:r>
            <a:endParaRPr lang="en-US" sz="1100" dirty="0"/>
          </a:p>
        </p:txBody>
      </p:sp>
      <p:sp>
        <p:nvSpPr>
          <p:cNvPr id="18" name="Text 16"/>
          <p:cNvSpPr/>
          <p:nvPr/>
        </p:nvSpPr>
        <p:spPr>
          <a:xfrm>
            <a:off x="9272016" y="2788920"/>
            <a:ext cx="256032" cy="548640"/>
          </a:xfrm>
          <a:prstGeom prst="rect">
            <a:avLst/>
          </a:prstGeom>
          <a:noFill/>
          <a:ln/>
        </p:spPr>
        <p:txBody>
          <a:bodyPr wrap="square" rtlCol="0" anchor="ctr"/>
          <a:lstStyle/>
          <a:p>
            <a:pPr algn="ctr" indent="0" marL="0">
              <a:buNone/>
            </a:pPr>
            <a:r>
              <a:rPr lang="en-US" sz="1600" b="1" dirty="0">
                <a:solidFill>
                  <a:srgbClr val="C9822B"/>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9528048" y="2194560"/>
            <a:ext cx="1965960" cy="1737360"/>
          </a:xfrm>
          <a:prstGeom prst="roundRect">
            <a:avLst>
              <a:gd name="adj" fmla="val 3684"/>
            </a:avLst>
          </a:prstGeom>
          <a:solidFill>
            <a:srgbClr val="1B3358"/>
          </a:solidFill>
          <a:ln w="12700">
            <a:solidFill>
              <a:srgbClr val="E3E7EC"/>
            </a:solidFill>
            <a:prstDash val="solid"/>
          </a:ln>
        </p:spPr>
      </p:sp>
      <p:sp>
        <p:nvSpPr>
          <p:cNvPr id="20" name="Text 18"/>
          <p:cNvSpPr/>
          <p:nvPr/>
        </p:nvSpPr>
        <p:spPr>
          <a:xfrm>
            <a:off x="9619488" y="2359152"/>
            <a:ext cx="1783080" cy="457200"/>
          </a:xfrm>
          <a:prstGeom prst="rect">
            <a:avLst/>
          </a:prstGeom>
          <a:noFill/>
          <a:ln/>
        </p:spPr>
        <p:txBody>
          <a:bodyPr wrap="square" rtlCol="0" anchor="ctr"/>
          <a:lstStyle/>
          <a:p>
            <a:pPr algn="ctr" indent="0" marL="0">
              <a:buNone/>
            </a:pPr>
            <a:r>
              <a:rPr lang="en-US" sz="1500" b="1" dirty="0">
                <a:solidFill>
                  <a:srgbClr val="C9822B"/>
                </a:solidFill>
                <a:latin typeface="Calibri" pitchFamily="34" charset="0"/>
                <a:ea typeface="Calibri" pitchFamily="34" charset="-122"/>
                <a:cs typeface="Calibri" pitchFamily="34" charset="-120"/>
              </a:rPr>
              <a:t>Engineer</a:t>
            </a:r>
            <a:endParaRPr lang="en-US" sz="1500" dirty="0"/>
          </a:p>
        </p:txBody>
      </p:sp>
      <p:sp>
        <p:nvSpPr>
          <p:cNvPr id="21" name="Text 19"/>
          <p:cNvSpPr/>
          <p:nvPr/>
        </p:nvSpPr>
        <p:spPr>
          <a:xfrm>
            <a:off x="9637776" y="2880360"/>
            <a:ext cx="1746504" cy="914400"/>
          </a:xfrm>
          <a:prstGeom prst="rect">
            <a:avLst/>
          </a:prstGeom>
          <a:noFill/>
          <a:ln/>
        </p:spPr>
        <p:txBody>
          <a:bodyPr wrap="square" rtlCol="0" anchor="ctr"/>
          <a:lstStyle/>
          <a:p>
            <a:pPr algn="ctr" indent="0" marL="0">
              <a:lnSpc>
                <a:spcPts val="1400"/>
              </a:lnSpc>
              <a:buNone/>
            </a:pPr>
            <a:r>
              <a:rPr lang="en-US" sz="1100" dirty="0">
                <a:solidFill>
                  <a:srgbClr val="FFFFFF"/>
                </a:solidFill>
                <a:latin typeface="Calibri" pitchFamily="34" charset="0"/>
                <a:ea typeface="Calibri" pitchFamily="34" charset="-122"/>
                <a:cs typeface="Calibri" pitchFamily="34" charset="-120"/>
              </a:rPr>
              <a:t>total_stay = weekend + weekday nights</a:t>
            </a:r>
            <a:endParaRPr lang="en-US" sz="1100" dirty="0"/>
          </a:p>
        </p:txBody>
      </p:sp>
      <p:sp>
        <p:nvSpPr>
          <p:cNvPr id="22" name="Shape 20"/>
          <p:cNvSpPr/>
          <p:nvPr/>
        </p:nvSpPr>
        <p:spPr>
          <a:xfrm>
            <a:off x="640080" y="4434840"/>
            <a:ext cx="10881360" cy="1417320"/>
          </a:xfrm>
          <a:prstGeom prst="roundRect">
            <a:avLst>
              <a:gd name="adj" fmla="val 5161"/>
            </a:avLst>
          </a:prstGeom>
          <a:solidFill>
            <a:srgbClr val="DCE6F0"/>
          </a:solidFill>
          <a:ln/>
        </p:spPr>
      </p:sp>
      <p:sp>
        <p:nvSpPr>
          <p:cNvPr id="23" name="Text 21"/>
          <p:cNvSpPr/>
          <p:nvPr/>
        </p:nvSpPr>
        <p:spPr>
          <a:xfrm>
            <a:off x="1005840" y="4663440"/>
            <a:ext cx="2926080" cy="914400"/>
          </a:xfrm>
          <a:prstGeom prst="rect">
            <a:avLst/>
          </a:prstGeom>
          <a:noFill/>
          <a:ln/>
        </p:spPr>
        <p:txBody>
          <a:bodyPr wrap="square" rtlCol="0" anchor="ctr"/>
          <a:lstStyle/>
          <a:p>
            <a:pPr indent="0" marL="0">
              <a:buNone/>
            </a:pPr>
            <a:r>
              <a:rPr lang="en-US" sz="4000" b="1" dirty="0">
                <a:solidFill>
                  <a:srgbClr val="1B3358"/>
                </a:solidFill>
                <a:latin typeface="Cambria" pitchFamily="34" charset="0"/>
                <a:ea typeface="Cambria" pitchFamily="34" charset="-122"/>
                <a:cs typeface="Cambria" pitchFamily="34" charset="-120"/>
              </a:rPr>
              <a:t>85,962</a:t>
            </a:r>
            <a:endParaRPr lang="en-US" sz="4000" dirty="0"/>
          </a:p>
        </p:txBody>
      </p:sp>
      <p:sp>
        <p:nvSpPr>
          <p:cNvPr id="24" name="Text 22"/>
          <p:cNvSpPr/>
          <p:nvPr/>
        </p:nvSpPr>
        <p:spPr>
          <a:xfrm>
            <a:off x="4023360" y="4663440"/>
            <a:ext cx="7223760" cy="914400"/>
          </a:xfrm>
          <a:prstGeom prst="rect">
            <a:avLst/>
          </a:prstGeom>
          <a:noFill/>
          <a:ln/>
        </p:spPr>
        <p:txBody>
          <a:bodyPr wrap="square" rtlCol="0" anchor="ctr"/>
          <a:lstStyle/>
          <a:p>
            <a:pPr indent="0" marL="0">
              <a:lnSpc>
                <a:spcPts val="1900"/>
              </a:lnSpc>
              <a:buNone/>
            </a:pPr>
            <a:r>
              <a:rPr lang="en-US" sz="1400" dirty="0">
                <a:solidFill>
                  <a:srgbClr val="1E1E1E"/>
                </a:solidFill>
                <a:latin typeface="Calibri" pitchFamily="34" charset="0"/>
                <a:ea typeface="Calibri" pitchFamily="34" charset="-122"/>
                <a:cs typeface="Calibri" pitchFamily="34" charset="-120"/>
              </a:rPr>
              <a:t>clean, analysis-ready bookings remained after removing duplicates,</a:t>
            </a:r>
            <a:endParaRPr lang="en-US" sz="1400" dirty="0"/>
          </a:p>
          <a:p>
            <a:pPr indent="0" marL="0">
              <a:lnSpc>
                <a:spcPts val="1900"/>
              </a:lnSpc>
              <a:buNone/>
            </a:pPr>
            <a:r>
              <a:rPr lang="en-US" sz="1400" dirty="0">
                <a:solidFill>
                  <a:srgbClr val="1E1E1E"/>
                </a:solidFill>
                <a:latin typeface="Calibri" pitchFamily="34" charset="0"/>
                <a:ea typeface="Calibri" pitchFamily="34" charset="-122"/>
                <a:cs typeface="Calibri" pitchFamily="34" charset="-120"/>
              </a:rPr>
              <a:t>invalid rates, and zero-guest records — a 28% reduction from the raw file.</a:t>
            </a:r>
            <a:endParaRPr lang="en-US" sz="1400" dirty="0"/>
          </a:p>
        </p:txBody>
      </p:sp>
      <p:sp>
        <p:nvSpPr>
          <p:cNvPr id="25" name="Text 23"/>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601200" cy="594360"/>
          </a:xfrm>
          <a:prstGeom prst="rect">
            <a:avLst/>
          </a:prstGeom>
          <a:noFill/>
          <a:ln/>
        </p:spPr>
        <p:txBody>
          <a:bodyPr wrap="square" rtlCol="0" anchor="ctr"/>
          <a:lstStyle/>
          <a:p>
            <a:pPr indent="0" marL="0">
              <a:buNone/>
            </a:pPr>
            <a:r>
              <a:rPr lang="en-US" sz="2800" b="1" dirty="0">
                <a:solidFill>
                  <a:srgbClr val="1B3358"/>
                </a:solidFill>
                <a:latin typeface="Cambria" pitchFamily="34" charset="0"/>
                <a:ea typeface="Cambria" pitchFamily="34" charset="-122"/>
                <a:cs typeface="Cambria" pitchFamily="34" charset="-120"/>
              </a:rPr>
              <a:t>Q1 · Which Hotel Do Guests Book?</a:t>
            </a:r>
            <a:endParaRPr lang="en-US" sz="2800" dirty="0"/>
          </a:p>
        </p:txBody>
      </p:sp>
      <p:pic>
        <p:nvPicPr>
          <p:cNvPr id="3" name="Image 0" descr="/home/claude/work/report_images/chart1_hotel_share.png">    </p:cNvPr>
          <p:cNvPicPr>
            <a:picLocks noChangeAspect="1"/>
          </p:cNvPicPr>
          <p:nvPr/>
        </p:nvPicPr>
        <p:blipFill>
          <a:blip r:embed="rId1"/>
          <a:stretch>
            <a:fillRect/>
          </a:stretch>
        </p:blipFill>
        <p:spPr>
          <a:xfrm>
            <a:off x="822960" y="1234440"/>
            <a:ext cx="5120640" cy="3364992"/>
          </a:xfrm>
          <a:prstGeom prst="rect">
            <a:avLst/>
          </a:prstGeom>
        </p:spPr>
      </p:pic>
      <p:sp>
        <p:nvSpPr>
          <p:cNvPr id="4" name="Text 1"/>
          <p:cNvSpPr/>
          <p:nvPr/>
        </p:nvSpPr>
        <p:spPr>
          <a:xfrm>
            <a:off x="6309360" y="1463040"/>
            <a:ext cx="5212080" cy="457200"/>
          </a:xfrm>
          <a:prstGeom prst="rect">
            <a:avLst/>
          </a:prstGeom>
          <a:noFill/>
          <a:ln/>
        </p:spPr>
        <p:txBody>
          <a:bodyPr wrap="square" rtlCol="0" anchor="ctr"/>
          <a:lstStyle/>
          <a:p>
            <a:pPr indent="0" marL="0">
              <a:buNone/>
            </a:pPr>
            <a:r>
              <a:rPr lang="en-US" sz="1800" b="1" dirty="0">
                <a:solidFill>
                  <a:srgbClr val="1B3358"/>
                </a:solidFill>
                <a:latin typeface="Calibri" pitchFamily="34" charset="0"/>
                <a:ea typeface="Calibri" pitchFamily="34" charset="-122"/>
                <a:cs typeface="Calibri" pitchFamily="34" charset="-120"/>
              </a:rPr>
              <a:t>The City Hotel dominates demand</a:t>
            </a:r>
            <a:endParaRPr lang="en-US" sz="1800" dirty="0"/>
          </a:p>
        </p:txBody>
      </p:sp>
      <p:sp>
        <p:nvSpPr>
          <p:cNvPr id="5" name="Text 2"/>
          <p:cNvSpPr/>
          <p:nvPr/>
        </p:nvSpPr>
        <p:spPr>
          <a:xfrm>
            <a:off x="6309360" y="2011680"/>
            <a:ext cx="5120640" cy="1005840"/>
          </a:xfrm>
          <a:prstGeom prst="rect">
            <a:avLst/>
          </a:prstGeom>
          <a:noFill/>
          <a:ln/>
        </p:spPr>
        <p:txBody>
          <a:bodyPr wrap="square" rtlCol="0" anchor="ctr"/>
          <a:lstStyle/>
          <a:p>
            <a:pPr indent="0" marL="0">
              <a:lnSpc>
                <a:spcPts val="2400"/>
              </a:lnSpc>
              <a:buNone/>
            </a:pPr>
            <a:r>
              <a:rPr lang="en-US" sz="2600" b="1" dirty="0">
                <a:solidFill>
                  <a:srgbClr val="C9822B"/>
                </a:solidFill>
              </a:rPr>
              <a:t>61.0%</a:t>
            </a:r>
            <a:pPr indent="0" marL="0">
              <a:lnSpc>
                <a:spcPts val="2400"/>
              </a:lnSpc>
              <a:buNone/>
            </a:pPr>
            <a:r>
              <a:rPr lang="en-US" sz="1400" dirty="0">
                <a:solidFill>
                  <a:srgbClr val="1E1E1E"/>
                </a:solidFill>
              </a:rPr>
              <a:t> of all bookings go to the City Hotel, versus </a:t>
            </a:r>
            <a:pPr indent="0" marL="0">
              <a:lnSpc>
                <a:spcPts val="2400"/>
              </a:lnSpc>
              <a:buNone/>
            </a:pPr>
            <a:r>
              <a:rPr lang="en-US" sz="1800" b="1" dirty="0">
                <a:solidFill>
                  <a:srgbClr val="3E6491"/>
                </a:solidFill>
              </a:rPr>
              <a:t>39.0%</a:t>
            </a:r>
            <a:pPr indent="0" marL="0">
              <a:lnSpc>
                <a:spcPts val="2400"/>
              </a:lnSpc>
              <a:buNone/>
            </a:pPr>
            <a:r>
              <a:rPr lang="en-US" sz="1400" dirty="0">
                <a:solidFill>
                  <a:srgbClr val="1E1E1E"/>
                </a:solidFill>
              </a:rPr>
              <a:t> for the Resort Hotel.</a:t>
            </a:r>
            <a:endParaRPr lang="en-US" sz="2600" dirty="0"/>
          </a:p>
        </p:txBody>
      </p:sp>
      <p:sp>
        <p:nvSpPr>
          <p:cNvPr id="6" name="Text 3"/>
          <p:cNvSpPr/>
          <p:nvPr/>
        </p:nvSpPr>
        <p:spPr>
          <a:xfrm>
            <a:off x="6309360" y="3200400"/>
            <a:ext cx="5120640" cy="1097280"/>
          </a:xfrm>
          <a:prstGeom prst="rect">
            <a:avLst/>
          </a:prstGeom>
          <a:noFill/>
          <a:ln/>
        </p:spPr>
        <p:txBody>
          <a:bodyPr wrap="square" rtlCol="0" anchor="ctr"/>
          <a:lstStyle/>
          <a:p>
            <a:pPr indent="0" marL="0">
              <a:lnSpc>
                <a:spcPts val="1900"/>
              </a:lnSpc>
              <a:buNone/>
            </a:pPr>
            <a:r>
              <a:rPr lang="en-US" sz="1350" dirty="0">
                <a:solidFill>
                  <a:srgbClr val="5A6472"/>
                </a:solidFill>
                <a:latin typeface="Calibri" pitchFamily="34" charset="0"/>
                <a:ea typeface="Calibri" pitchFamily="34" charset="-122"/>
                <a:cs typeface="Calibri" pitchFamily="34" charset="-120"/>
              </a:rPr>
              <a:t>For every 2 City Hotel bookings, the Resort Hotel receives roughly 1 — a meaningful, consistent gap across the full three-year window.</a:t>
            </a:r>
            <a:endParaRPr lang="en-US" sz="1350" dirty="0"/>
          </a:p>
        </p:txBody>
      </p:sp>
      <p:sp>
        <p:nvSpPr>
          <p:cNvPr id="7" name="Shape 4"/>
          <p:cNvSpPr/>
          <p:nvPr/>
        </p:nvSpPr>
        <p:spPr>
          <a:xfrm>
            <a:off x="6309360" y="4617720"/>
            <a:ext cx="5120640" cy="1234440"/>
          </a:xfrm>
          <a:prstGeom prst="roundRect">
            <a:avLst>
              <a:gd name="adj" fmla="val 5926"/>
            </a:avLst>
          </a:prstGeom>
          <a:solidFill>
            <a:srgbClr val="FAFBFC"/>
          </a:solidFill>
          <a:ln w="12700">
            <a:solidFill>
              <a:srgbClr val="E3E7EC"/>
            </a:solidFill>
            <a:prstDash val="solid"/>
          </a:ln>
        </p:spPr>
      </p:sp>
      <p:sp>
        <p:nvSpPr>
          <p:cNvPr id="8" name="Text 5"/>
          <p:cNvSpPr/>
          <p:nvPr/>
        </p:nvSpPr>
        <p:spPr>
          <a:xfrm>
            <a:off x="6583680" y="4800600"/>
            <a:ext cx="4572000" cy="320040"/>
          </a:xfrm>
          <a:prstGeom prst="rect">
            <a:avLst/>
          </a:prstGeom>
          <a:noFill/>
          <a:ln/>
        </p:spPr>
        <p:txBody>
          <a:bodyPr wrap="square" rtlCol="0" anchor="ctr"/>
          <a:lstStyle/>
          <a:p>
            <a:pPr indent="0" marL="0">
              <a:buNone/>
            </a:pPr>
            <a:r>
              <a:rPr lang="en-US" sz="1250" b="1" dirty="0">
                <a:solidFill>
                  <a:srgbClr val="1B3358"/>
                </a:solidFill>
                <a:latin typeface="Calibri" pitchFamily="34" charset="0"/>
                <a:ea typeface="Calibri" pitchFamily="34" charset="-122"/>
                <a:cs typeface="Calibri" pitchFamily="34" charset="-120"/>
              </a:rPr>
              <a:t>Why it matters</a:t>
            </a:r>
            <a:endParaRPr lang="en-US" sz="1250" dirty="0"/>
          </a:p>
        </p:txBody>
      </p:sp>
      <p:sp>
        <p:nvSpPr>
          <p:cNvPr id="9" name="Text 6"/>
          <p:cNvSpPr/>
          <p:nvPr/>
        </p:nvSpPr>
        <p:spPr>
          <a:xfrm>
            <a:off x="6583680" y="5102352"/>
            <a:ext cx="4572000" cy="685800"/>
          </a:xfrm>
          <a:prstGeom prst="rect">
            <a:avLst/>
          </a:prstGeom>
          <a:noFill/>
          <a:ln/>
        </p:spPr>
        <p:txBody>
          <a:bodyPr wrap="square" rtlCol="0" anchor="ctr"/>
          <a:lstStyle/>
          <a:p>
            <a:pPr indent="0" marL="0">
              <a:lnSpc>
                <a:spcPts val="1400"/>
              </a:lnSpc>
              <a:buNone/>
            </a:pPr>
            <a:r>
              <a:rPr lang="en-US" sz="1100" i="1" dirty="0">
                <a:solidFill>
                  <a:srgbClr val="5A6472"/>
                </a:solidFill>
                <a:latin typeface="Calibri" pitchFamily="34" charset="0"/>
                <a:ea typeface="Calibri" pitchFamily="34" charset="-122"/>
                <a:cs typeface="Calibri" pitchFamily="34" charset="-120"/>
              </a:rPr>
              <a:t>Inventory, staffing, and marketing budgets should weight toward the City Hotel — but its higher cancellation rate (next slide) means that volume needs careful risk management.</a:t>
            </a:r>
            <a:endParaRPr lang="en-US" sz="1100" dirty="0"/>
          </a:p>
        </p:txBody>
      </p:sp>
      <p:sp>
        <p:nvSpPr>
          <p:cNvPr id="10" name="Text 7"/>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601200" cy="594360"/>
          </a:xfrm>
          <a:prstGeom prst="rect">
            <a:avLst/>
          </a:prstGeom>
          <a:noFill/>
          <a:ln/>
        </p:spPr>
        <p:txBody>
          <a:bodyPr wrap="square" rtlCol="0" anchor="ctr"/>
          <a:lstStyle/>
          <a:p>
            <a:pPr indent="0" marL="0">
              <a:buNone/>
            </a:pPr>
            <a:r>
              <a:rPr lang="en-US" sz="2800" b="1" dirty="0">
                <a:solidFill>
                  <a:srgbClr val="1B3358"/>
                </a:solidFill>
                <a:latin typeface="Cambria" pitchFamily="34" charset="0"/>
                <a:ea typeface="Cambria" pitchFamily="34" charset="-122"/>
                <a:cs typeface="Cambria" pitchFamily="34" charset="-120"/>
              </a:rPr>
              <a:t>Q1 · When Do They Book?</a:t>
            </a:r>
            <a:endParaRPr lang="en-US" sz="2800" dirty="0"/>
          </a:p>
        </p:txBody>
      </p:sp>
      <p:pic>
        <p:nvPicPr>
          <p:cNvPr id="3" name="Image 0" descr="/home/claude/work/report_images/chart2_monthly_bookings.png">    </p:cNvPr>
          <p:cNvPicPr>
            <a:picLocks noChangeAspect="1"/>
          </p:cNvPicPr>
          <p:nvPr/>
        </p:nvPicPr>
        <p:blipFill>
          <a:blip r:embed="rId1"/>
          <a:stretch>
            <a:fillRect/>
          </a:stretch>
        </p:blipFill>
        <p:spPr>
          <a:xfrm>
            <a:off x="822960" y="1143000"/>
            <a:ext cx="7223760" cy="3557016"/>
          </a:xfrm>
          <a:prstGeom prst="rect">
            <a:avLst/>
          </a:prstGeom>
        </p:spPr>
      </p:pic>
      <p:sp>
        <p:nvSpPr>
          <p:cNvPr id="4" name="Shape 1"/>
          <p:cNvSpPr/>
          <p:nvPr/>
        </p:nvSpPr>
        <p:spPr>
          <a:xfrm>
            <a:off x="8412480" y="1463040"/>
            <a:ext cx="320040" cy="320040"/>
          </a:xfrm>
          <a:prstGeom prst="ellipse">
            <a:avLst/>
          </a:prstGeom>
          <a:solidFill>
            <a:srgbClr val="1B3358"/>
          </a:solidFill>
          <a:ln/>
        </p:spPr>
      </p:sp>
      <p:sp>
        <p:nvSpPr>
          <p:cNvPr id="5" name="Text 2"/>
          <p:cNvSpPr/>
          <p:nvPr/>
        </p:nvSpPr>
        <p:spPr>
          <a:xfrm>
            <a:off x="8412480" y="1463040"/>
            <a:ext cx="320040" cy="320040"/>
          </a:xfrm>
          <a:prstGeom prst="rect">
            <a:avLst/>
          </a:prstGeom>
          <a:noFill/>
          <a:ln/>
        </p:spPr>
        <p:txBody>
          <a:bodyPr wrap="square" rtlCol="0" anchor="ctr"/>
          <a:lstStyle/>
          <a:p>
            <a:pPr algn="ctr" indent="0" marL="0">
              <a:buNone/>
            </a:pPr>
            <a:endParaRPr lang="en-US" sz="1000" dirty="0"/>
          </a:p>
        </p:txBody>
      </p:sp>
      <p:sp>
        <p:nvSpPr>
          <p:cNvPr id="6" name="Text 3"/>
          <p:cNvSpPr/>
          <p:nvPr/>
        </p:nvSpPr>
        <p:spPr>
          <a:xfrm>
            <a:off x="8915400" y="1389888"/>
            <a:ext cx="2651760" cy="320040"/>
          </a:xfrm>
          <a:prstGeom prst="rect">
            <a:avLst/>
          </a:prstGeom>
          <a:noFill/>
          <a:ln/>
        </p:spPr>
        <p:txBody>
          <a:bodyPr wrap="square" rtlCol="0" anchor="ctr"/>
          <a:lstStyle/>
          <a:p>
            <a:pPr indent="0" marL="0">
              <a:buNone/>
            </a:pPr>
            <a:r>
              <a:rPr lang="en-US" sz="1400" b="1" dirty="0">
                <a:solidFill>
                  <a:srgbClr val="1B3358"/>
                </a:solidFill>
                <a:latin typeface="Calibri" pitchFamily="34" charset="0"/>
                <a:ea typeface="Calibri" pitchFamily="34" charset="-122"/>
                <a:cs typeface="Calibri" pitchFamily="34" charset="-120"/>
              </a:rPr>
              <a:t>City Hotel</a:t>
            </a:r>
            <a:endParaRPr lang="en-US" sz="1400" dirty="0"/>
          </a:p>
        </p:txBody>
      </p:sp>
      <p:sp>
        <p:nvSpPr>
          <p:cNvPr id="7" name="Text 4"/>
          <p:cNvSpPr/>
          <p:nvPr/>
        </p:nvSpPr>
        <p:spPr>
          <a:xfrm>
            <a:off x="8915400" y="1719072"/>
            <a:ext cx="2651760" cy="1188720"/>
          </a:xfrm>
          <a:prstGeom prst="rect">
            <a:avLst/>
          </a:prstGeom>
          <a:noFill/>
          <a:ln/>
        </p:spPr>
        <p:txBody>
          <a:bodyPr wrap="square"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Sharp climb to an October peak (~6,500), then a steep November drop — a business-travel pattern.</a:t>
            </a:r>
            <a:endParaRPr lang="en-US" sz="1150" dirty="0"/>
          </a:p>
        </p:txBody>
      </p:sp>
      <p:sp>
        <p:nvSpPr>
          <p:cNvPr id="8" name="Shape 5"/>
          <p:cNvSpPr/>
          <p:nvPr/>
        </p:nvSpPr>
        <p:spPr>
          <a:xfrm>
            <a:off x="8412480" y="3108960"/>
            <a:ext cx="320040" cy="320040"/>
          </a:xfrm>
          <a:prstGeom prst="ellipse">
            <a:avLst/>
          </a:prstGeom>
          <a:solidFill>
            <a:srgbClr val="C9822B"/>
          </a:solidFill>
          <a:ln/>
        </p:spPr>
      </p:sp>
      <p:sp>
        <p:nvSpPr>
          <p:cNvPr id="9" name="Text 6"/>
          <p:cNvSpPr/>
          <p:nvPr/>
        </p:nvSpPr>
        <p:spPr>
          <a:xfrm>
            <a:off x="8412480" y="3108960"/>
            <a:ext cx="320040" cy="320040"/>
          </a:xfrm>
          <a:prstGeom prst="rect">
            <a:avLst/>
          </a:prstGeom>
          <a:noFill/>
          <a:ln/>
        </p:spPr>
        <p:txBody>
          <a:bodyPr wrap="square" rtlCol="0" anchor="ctr"/>
          <a:lstStyle/>
          <a:p>
            <a:pPr algn="ctr" indent="0" marL="0">
              <a:buNone/>
            </a:pPr>
            <a:endParaRPr lang="en-US" sz="1000" dirty="0"/>
          </a:p>
        </p:txBody>
      </p:sp>
      <p:sp>
        <p:nvSpPr>
          <p:cNvPr id="10" name="Text 7"/>
          <p:cNvSpPr/>
          <p:nvPr/>
        </p:nvSpPr>
        <p:spPr>
          <a:xfrm>
            <a:off x="8915400" y="3035808"/>
            <a:ext cx="2651760" cy="320040"/>
          </a:xfrm>
          <a:prstGeom prst="rect">
            <a:avLst/>
          </a:prstGeom>
          <a:noFill/>
          <a:ln/>
        </p:spPr>
        <p:txBody>
          <a:bodyPr wrap="square" rtlCol="0" anchor="ctr"/>
          <a:lstStyle/>
          <a:p>
            <a:pPr indent="0" marL="0">
              <a:buNone/>
            </a:pPr>
            <a:r>
              <a:rPr lang="en-US" sz="1400" b="1" dirty="0">
                <a:solidFill>
                  <a:srgbClr val="1B3358"/>
                </a:solidFill>
                <a:latin typeface="Calibri" pitchFamily="34" charset="0"/>
                <a:ea typeface="Calibri" pitchFamily="34" charset="-122"/>
                <a:cs typeface="Calibri" pitchFamily="34" charset="-120"/>
              </a:rPr>
              <a:t>Resort Hotel</a:t>
            </a:r>
            <a:endParaRPr lang="en-US" sz="1400" dirty="0"/>
          </a:p>
        </p:txBody>
      </p:sp>
      <p:sp>
        <p:nvSpPr>
          <p:cNvPr id="11" name="Text 8"/>
          <p:cNvSpPr/>
          <p:nvPr/>
        </p:nvSpPr>
        <p:spPr>
          <a:xfrm>
            <a:off x="8915400" y="3364992"/>
            <a:ext cx="2651760" cy="1188720"/>
          </a:xfrm>
          <a:prstGeom prst="rect">
            <a:avLst/>
          </a:prstGeom>
          <a:noFill/>
          <a:ln/>
        </p:spPr>
        <p:txBody>
          <a:bodyPr wrap="square"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Smoother summer build, peaking Sept–Oct (~4,300–4,650) — a classic leisure pattern.</a:t>
            </a:r>
            <a:endParaRPr lang="en-US" sz="1150" dirty="0"/>
          </a:p>
        </p:txBody>
      </p:sp>
      <p:sp>
        <p:nvSpPr>
          <p:cNvPr id="12" name="Text 9"/>
          <p:cNvSpPr/>
          <p:nvPr/>
        </p:nvSpPr>
        <p:spPr>
          <a:xfrm>
            <a:off x="8412480" y="4846320"/>
            <a:ext cx="3154680" cy="1280160"/>
          </a:xfrm>
          <a:prstGeom prst="rect">
            <a:avLst/>
          </a:prstGeom>
          <a:noFill/>
          <a:ln/>
        </p:spPr>
        <p:txBody>
          <a:bodyPr wrap="square" rtlCol="0" anchor="ctr"/>
          <a:lstStyle/>
          <a:p>
            <a:pPr indent="0" marL="0">
              <a:lnSpc>
                <a:spcPts val="1500"/>
              </a:lnSpc>
              <a:buNone/>
            </a:pPr>
            <a:r>
              <a:rPr lang="en-US" sz="1150" i="1" dirty="0">
                <a:solidFill>
                  <a:srgbClr val="5A6472"/>
                </a:solidFill>
                <a:latin typeface="Calibri" pitchFamily="34" charset="0"/>
                <a:ea typeface="Calibri" pitchFamily="34" charset="-122"/>
                <a:cs typeface="Calibri" pitchFamily="34" charset="-120"/>
              </a:rPr>
              <a:t>Both properties trough in winter (Jan–Mar) — the natural window for renovation or promotions.</a:t>
            </a:r>
            <a:endParaRPr lang="en-US" sz="1150" dirty="0"/>
          </a:p>
        </p:txBody>
      </p:sp>
      <p:sp>
        <p:nvSpPr>
          <p:cNvPr id="13" name="Text 10"/>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594360"/>
          </a:xfrm>
          <a:prstGeom prst="rect">
            <a:avLst/>
          </a:prstGeom>
          <a:noFill/>
          <a:ln/>
        </p:spPr>
        <p:txBody>
          <a:bodyPr wrap="square" rtlCol="0" anchor="ctr"/>
          <a:lstStyle/>
          <a:p>
            <a:pPr indent="0" marL="0">
              <a:buNone/>
            </a:pPr>
            <a:r>
              <a:rPr lang="en-US" sz="2700" b="1" dirty="0">
                <a:solidFill>
                  <a:srgbClr val="1B3358"/>
                </a:solidFill>
                <a:latin typeface="Cambria" pitchFamily="34" charset="0"/>
                <a:ea typeface="Cambria" pitchFamily="34" charset="-122"/>
                <a:cs typeface="Cambria" pitchFamily="34" charset="-120"/>
              </a:rPr>
              <a:t>Q2 · Does Stay Length Predict Cancellation?</a:t>
            </a:r>
            <a:endParaRPr lang="en-US" sz="2700" dirty="0"/>
          </a:p>
        </p:txBody>
      </p:sp>
      <p:pic>
        <p:nvPicPr>
          <p:cNvPr id="3" name="Image 0" descr="/home/claude/work/report_images/chart3_cancellation_by_hotel.png">    </p:cNvPr>
          <p:cNvPicPr>
            <a:picLocks noChangeAspect="1"/>
          </p:cNvPicPr>
          <p:nvPr/>
        </p:nvPicPr>
        <p:blipFill>
          <a:blip r:embed="rId1"/>
          <a:stretch>
            <a:fillRect/>
          </a:stretch>
        </p:blipFill>
        <p:spPr>
          <a:xfrm>
            <a:off x="548640" y="1234440"/>
            <a:ext cx="3383280" cy="2221992"/>
          </a:xfrm>
          <a:prstGeom prst="rect">
            <a:avLst/>
          </a:prstGeom>
        </p:spPr>
      </p:pic>
      <p:pic>
        <p:nvPicPr>
          <p:cNvPr id="4" name="Image 1" descr="/home/claude/work/report_images/chart4_stay_duration_cancellation.png">    </p:cNvPr>
          <p:cNvPicPr>
            <a:picLocks noChangeAspect="1"/>
          </p:cNvPicPr>
          <p:nvPr/>
        </p:nvPicPr>
        <p:blipFill>
          <a:blip r:embed="rId2"/>
          <a:stretch>
            <a:fillRect/>
          </a:stretch>
        </p:blipFill>
        <p:spPr>
          <a:xfrm>
            <a:off x="4160520" y="1234440"/>
            <a:ext cx="7223760" cy="3950208"/>
          </a:xfrm>
          <a:prstGeom prst="rect">
            <a:avLst/>
          </a:prstGeom>
        </p:spPr>
      </p:pic>
      <p:sp>
        <p:nvSpPr>
          <p:cNvPr id="5" name="Text 1"/>
          <p:cNvSpPr/>
          <p:nvPr/>
        </p:nvSpPr>
        <p:spPr>
          <a:xfrm>
            <a:off x="548640" y="3611880"/>
            <a:ext cx="1645920" cy="457200"/>
          </a:xfrm>
          <a:prstGeom prst="rect">
            <a:avLst/>
          </a:prstGeom>
          <a:noFill/>
          <a:ln/>
        </p:spPr>
        <p:txBody>
          <a:bodyPr wrap="square" rtlCol="0" anchor="ctr"/>
          <a:lstStyle/>
          <a:p>
            <a:pPr indent="0" marL="0">
              <a:buNone/>
            </a:pPr>
            <a:r>
              <a:rPr lang="en-US" sz="2200" b="1" dirty="0">
                <a:solidFill>
                  <a:srgbClr val="1B3358"/>
                </a:solidFill>
                <a:latin typeface="Cambria" pitchFamily="34" charset="0"/>
                <a:ea typeface="Cambria" pitchFamily="34" charset="-122"/>
                <a:cs typeface="Cambria" pitchFamily="34" charset="-120"/>
              </a:rPr>
              <a:t>30.2%</a:t>
            </a:r>
            <a:endParaRPr lang="en-US" sz="2200" dirty="0"/>
          </a:p>
        </p:txBody>
      </p:sp>
      <p:sp>
        <p:nvSpPr>
          <p:cNvPr id="6" name="Text 2"/>
          <p:cNvSpPr/>
          <p:nvPr/>
        </p:nvSpPr>
        <p:spPr>
          <a:xfrm>
            <a:off x="548640" y="4069080"/>
            <a:ext cx="1645920" cy="548640"/>
          </a:xfrm>
          <a:prstGeom prst="rect">
            <a:avLst/>
          </a:prstGeom>
          <a:noFill/>
          <a:ln/>
        </p:spPr>
        <p:txBody>
          <a:bodyPr wrap="square" rtlCol="0" anchor="ctr"/>
          <a:lstStyle/>
          <a:p>
            <a:pPr indent="0" marL="0">
              <a:buNone/>
            </a:pPr>
            <a:r>
              <a:rPr lang="en-US" sz="1050" dirty="0">
                <a:solidFill>
                  <a:srgbClr val="5A6472"/>
                </a:solidFill>
                <a:latin typeface="Calibri" pitchFamily="34" charset="0"/>
                <a:ea typeface="Calibri" pitchFamily="34" charset="-122"/>
                <a:cs typeface="Calibri" pitchFamily="34" charset="-120"/>
              </a:rPr>
              <a:t>City overall</a:t>
            </a:r>
            <a:endParaRPr lang="en-US" sz="1050" dirty="0"/>
          </a:p>
          <a:p>
            <a:pPr indent="0" marL="0">
              <a:buNone/>
            </a:pPr>
            <a:r>
              <a:rPr lang="en-US" sz="1050" dirty="0">
                <a:solidFill>
                  <a:srgbClr val="5A6472"/>
                </a:solidFill>
                <a:latin typeface="Calibri" pitchFamily="34" charset="0"/>
                <a:ea typeface="Calibri" pitchFamily="34" charset="-122"/>
                <a:cs typeface="Calibri" pitchFamily="34" charset="-120"/>
              </a:rPr>
              <a:t>cancellation rate</a:t>
            </a:r>
            <a:endParaRPr lang="en-US" sz="1050" dirty="0"/>
          </a:p>
        </p:txBody>
      </p:sp>
      <p:sp>
        <p:nvSpPr>
          <p:cNvPr id="7" name="Text 3"/>
          <p:cNvSpPr/>
          <p:nvPr/>
        </p:nvSpPr>
        <p:spPr>
          <a:xfrm>
            <a:off x="2286000" y="3611880"/>
            <a:ext cx="1645920" cy="457200"/>
          </a:xfrm>
          <a:prstGeom prst="rect">
            <a:avLst/>
          </a:prstGeom>
          <a:noFill/>
          <a:ln/>
        </p:spPr>
        <p:txBody>
          <a:bodyPr wrap="square" rtlCol="0" anchor="ctr"/>
          <a:lstStyle/>
          <a:p>
            <a:pPr indent="0" marL="0">
              <a:buNone/>
            </a:pPr>
            <a:r>
              <a:rPr lang="en-US" sz="2200" b="1" dirty="0">
                <a:solidFill>
                  <a:srgbClr val="3E6491"/>
                </a:solidFill>
                <a:latin typeface="Cambria" pitchFamily="34" charset="0"/>
                <a:ea typeface="Cambria" pitchFamily="34" charset="-122"/>
                <a:cs typeface="Cambria" pitchFamily="34" charset="-120"/>
              </a:rPr>
              <a:t>23.5%</a:t>
            </a:r>
            <a:endParaRPr lang="en-US" sz="2200" dirty="0"/>
          </a:p>
        </p:txBody>
      </p:sp>
      <p:sp>
        <p:nvSpPr>
          <p:cNvPr id="8" name="Text 4"/>
          <p:cNvSpPr/>
          <p:nvPr/>
        </p:nvSpPr>
        <p:spPr>
          <a:xfrm>
            <a:off x="2286000" y="4069080"/>
            <a:ext cx="1645920" cy="548640"/>
          </a:xfrm>
          <a:prstGeom prst="rect">
            <a:avLst/>
          </a:prstGeom>
          <a:noFill/>
          <a:ln/>
        </p:spPr>
        <p:txBody>
          <a:bodyPr wrap="square" rtlCol="0" anchor="ctr"/>
          <a:lstStyle/>
          <a:p>
            <a:pPr indent="0" marL="0">
              <a:buNone/>
            </a:pPr>
            <a:r>
              <a:rPr lang="en-US" sz="1050" dirty="0">
                <a:solidFill>
                  <a:srgbClr val="5A6472"/>
                </a:solidFill>
                <a:latin typeface="Calibri" pitchFamily="34" charset="0"/>
                <a:ea typeface="Calibri" pitchFamily="34" charset="-122"/>
                <a:cs typeface="Calibri" pitchFamily="34" charset="-120"/>
              </a:rPr>
              <a:t>Resort overall</a:t>
            </a:r>
            <a:endParaRPr lang="en-US" sz="1050" dirty="0"/>
          </a:p>
          <a:p>
            <a:pPr indent="0" marL="0">
              <a:buNone/>
            </a:pPr>
            <a:r>
              <a:rPr lang="en-US" sz="1050" dirty="0">
                <a:solidFill>
                  <a:srgbClr val="5A6472"/>
                </a:solidFill>
                <a:latin typeface="Calibri" pitchFamily="34" charset="0"/>
                <a:ea typeface="Calibri" pitchFamily="34" charset="-122"/>
                <a:cs typeface="Calibri" pitchFamily="34" charset="-120"/>
              </a:rPr>
              <a:t>cancellation rate</a:t>
            </a:r>
            <a:endParaRPr lang="en-US" sz="1050" dirty="0"/>
          </a:p>
        </p:txBody>
      </p:sp>
      <p:sp>
        <p:nvSpPr>
          <p:cNvPr id="9" name="Text 5"/>
          <p:cNvSpPr/>
          <p:nvPr/>
        </p:nvSpPr>
        <p:spPr>
          <a:xfrm>
            <a:off x="548640" y="5074920"/>
            <a:ext cx="10698480" cy="822960"/>
          </a:xfrm>
          <a:prstGeom prst="rect">
            <a:avLst/>
          </a:prstGeom>
          <a:noFill/>
          <a:ln/>
        </p:spPr>
        <p:txBody>
          <a:bodyPr wrap="square" rtlCol="0" anchor="ctr"/>
          <a:lstStyle/>
          <a:p>
            <a:pPr indent="0" marL="0">
              <a:lnSpc>
                <a:spcPts val="1900"/>
              </a:lnSpc>
              <a:buNone/>
            </a:pPr>
            <a:r>
              <a:rPr lang="en-US" sz="1400" dirty="0">
                <a:solidFill>
                  <a:srgbClr val="1E1E1E"/>
                </a:solidFill>
                <a:latin typeface="Calibri" pitchFamily="34" charset="0"/>
                <a:ea typeface="Calibri" pitchFamily="34" charset="-122"/>
                <a:cs typeface="Calibri" pitchFamily="34" charset="-120"/>
              </a:rPr>
              <a:t>Longer stays cancel more — sharply so at the City Hotel, which climbs from ~5% at one night to ~70% at fourteen nights. The Resort Hotel rises too, but plateaus in the 25–35% range.</a:t>
            </a:r>
            <a:endParaRPr lang="en-US" sz="1400" dirty="0"/>
          </a:p>
        </p:txBody>
      </p:sp>
      <p:sp>
        <p:nvSpPr>
          <p:cNvPr id="10" name="Text 6"/>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594360"/>
          </a:xfrm>
          <a:prstGeom prst="rect">
            <a:avLst/>
          </a:prstGeom>
          <a:noFill/>
          <a:ln/>
        </p:spPr>
        <p:txBody>
          <a:bodyPr wrap="square" rtlCol="0" anchor="ctr"/>
          <a:lstStyle/>
          <a:p>
            <a:pPr indent="0" marL="0">
              <a:buNone/>
            </a:pPr>
            <a:r>
              <a:rPr lang="en-US" sz="2700" b="1" dirty="0">
                <a:solidFill>
                  <a:srgbClr val="1B3358"/>
                </a:solidFill>
                <a:latin typeface="Cambria" pitchFamily="34" charset="0"/>
                <a:ea typeface="Cambria" pitchFamily="34" charset="-122"/>
                <a:cs typeface="Cambria" pitchFamily="34" charset="-120"/>
              </a:rPr>
              <a:t>Q3 · Does Booking Early Increase Risk?</a:t>
            </a:r>
            <a:endParaRPr lang="en-US" sz="2700" dirty="0"/>
          </a:p>
        </p:txBody>
      </p:sp>
      <p:pic>
        <p:nvPicPr>
          <p:cNvPr id="3" name="Image 0" descr="/home/claude/work/report_images/chart5_lead_time_cancellation.png">    </p:cNvPr>
          <p:cNvPicPr>
            <a:picLocks noChangeAspect="1"/>
          </p:cNvPicPr>
          <p:nvPr/>
        </p:nvPicPr>
        <p:blipFill>
          <a:blip r:embed="rId1"/>
          <a:stretch>
            <a:fillRect/>
          </a:stretch>
        </p:blipFill>
        <p:spPr>
          <a:xfrm>
            <a:off x="640080" y="1188720"/>
            <a:ext cx="7223760" cy="3639312"/>
          </a:xfrm>
          <a:prstGeom prst="rect">
            <a:avLst/>
          </a:prstGeom>
        </p:spPr>
      </p:pic>
      <p:sp>
        <p:nvSpPr>
          <p:cNvPr id="4" name="Shape 1"/>
          <p:cNvSpPr/>
          <p:nvPr/>
        </p:nvSpPr>
        <p:spPr>
          <a:xfrm>
            <a:off x="8138160" y="1234440"/>
            <a:ext cx="3429000" cy="1554480"/>
          </a:xfrm>
          <a:prstGeom prst="roundRect">
            <a:avLst>
              <a:gd name="adj" fmla="val 4706"/>
            </a:avLst>
          </a:prstGeom>
          <a:solidFill>
            <a:srgbClr val="1B3358"/>
          </a:solidFill>
          <a:ln/>
        </p:spPr>
      </p:sp>
      <p:sp>
        <p:nvSpPr>
          <p:cNvPr id="5" name="Text 2"/>
          <p:cNvSpPr/>
          <p:nvPr/>
        </p:nvSpPr>
        <p:spPr>
          <a:xfrm>
            <a:off x="8321040" y="1417320"/>
            <a:ext cx="3063240" cy="457200"/>
          </a:xfrm>
          <a:prstGeom prst="rect">
            <a:avLst/>
          </a:prstGeom>
          <a:noFill/>
          <a:ln/>
        </p:spPr>
        <p:txBody>
          <a:bodyPr wrap="square" rtlCol="0" anchor="ctr"/>
          <a:lstStyle/>
          <a:p>
            <a:pPr algn="ctr" indent="0" marL="0">
              <a:buNone/>
            </a:pPr>
            <a:r>
              <a:rPr lang="en-US" sz="1900" b="1" dirty="0">
                <a:solidFill>
                  <a:srgbClr val="C9822B"/>
                </a:solidFill>
                <a:latin typeface="Cambria" pitchFamily="34" charset="0"/>
                <a:ea typeface="Cambria" pitchFamily="34" charset="-122"/>
                <a:cs typeface="Cambria" pitchFamily="34" charset="-120"/>
              </a:rPr>
              <a:t>21.6%  →  ~65%</a:t>
            </a:r>
            <a:endParaRPr lang="en-US" sz="1900" dirty="0"/>
          </a:p>
        </p:txBody>
      </p:sp>
      <p:sp>
        <p:nvSpPr>
          <p:cNvPr id="6" name="Text 3"/>
          <p:cNvSpPr/>
          <p:nvPr/>
        </p:nvSpPr>
        <p:spPr>
          <a:xfrm>
            <a:off x="8321040" y="1920240"/>
            <a:ext cx="3063240" cy="777240"/>
          </a:xfrm>
          <a:prstGeom prst="rect">
            <a:avLst/>
          </a:prstGeom>
          <a:noFill/>
          <a:ln/>
        </p:spPr>
        <p:txBody>
          <a:bodyPr wrap="square" rtlCol="0" anchor="ctr"/>
          <a:lstStyle/>
          <a:p>
            <a:pPr algn="ctr" indent="0" marL="0">
              <a:lnSpc>
                <a:spcPts val="1400"/>
              </a:lnSpc>
              <a:buNone/>
            </a:pPr>
            <a:r>
              <a:rPr lang="en-US" sz="1150" dirty="0">
                <a:solidFill>
                  <a:srgbClr val="FFFFFF"/>
                </a:solidFill>
                <a:latin typeface="Calibri" pitchFamily="34" charset="0"/>
                <a:ea typeface="Calibri" pitchFamily="34" charset="-122"/>
                <a:cs typeface="Calibri" pitchFamily="34" charset="-120"/>
              </a:rPr>
              <a:t>City Hotel cancellation rate, 0–30 days out vs. 360+ days out</a:t>
            </a:r>
            <a:endParaRPr lang="en-US" sz="1150" dirty="0"/>
          </a:p>
        </p:txBody>
      </p:sp>
      <p:sp>
        <p:nvSpPr>
          <p:cNvPr id="7" name="Text 4"/>
          <p:cNvSpPr/>
          <p:nvPr/>
        </p:nvSpPr>
        <p:spPr>
          <a:xfrm>
            <a:off x="8138160" y="3017520"/>
            <a:ext cx="3429000" cy="1737360"/>
          </a:xfrm>
          <a:prstGeom prst="rect">
            <a:avLst/>
          </a:prstGeom>
          <a:noFill/>
          <a:ln/>
        </p:spPr>
        <p:txBody>
          <a:bodyPr wrap="square" rtlCol="0" anchor="ctr"/>
          <a:lstStyle/>
          <a:p>
            <a:pPr indent="0" marL="0">
              <a:lnSpc>
                <a:spcPts val="1700"/>
              </a:lnSpc>
              <a:buNone/>
            </a:pPr>
            <a:r>
              <a:rPr lang="en-US" sz="1250" dirty="0">
                <a:solidFill>
                  <a:srgbClr val="1E1E1E"/>
                </a:solidFill>
                <a:latin typeface="Calibri" pitchFamily="34" charset="0"/>
                <a:ea typeface="Calibri" pitchFamily="34" charset="-122"/>
                <a:cs typeface="Calibri" pitchFamily="34" charset="-120"/>
              </a:rPr>
              <a:t>The pattern is consistent: bookings made just before arrival rarely cancel — guests already know their plans are firm. The further out a booking sits, the more time there is for plans to change.</a:t>
            </a:r>
            <a:endParaRPr lang="en-US" sz="1250" dirty="0"/>
          </a:p>
        </p:txBody>
      </p:sp>
      <p:sp>
        <p:nvSpPr>
          <p:cNvPr id="8" name="Text 5"/>
          <p:cNvSpPr/>
          <p:nvPr/>
        </p:nvSpPr>
        <p:spPr>
          <a:xfrm>
            <a:off x="8138160" y="4846320"/>
            <a:ext cx="3429000" cy="1188720"/>
          </a:xfrm>
          <a:prstGeom prst="rect">
            <a:avLst/>
          </a:prstGeom>
          <a:noFill/>
          <a:ln/>
        </p:spPr>
        <p:txBody>
          <a:bodyPr wrap="square" rtlCol="0" anchor="ctr"/>
          <a:lstStyle/>
          <a:p>
            <a:pPr indent="0" marL="0">
              <a:lnSpc>
                <a:spcPts val="1700"/>
              </a:lnSpc>
              <a:buNone/>
            </a:pPr>
            <a:r>
              <a:rPr lang="en-US" sz="1250" i="1" dirty="0">
                <a:solidFill>
                  <a:srgbClr val="5A6472"/>
                </a:solidFill>
                <a:latin typeface="Calibri" pitchFamily="34" charset="0"/>
                <a:ea typeface="Calibri" pitchFamily="34" charset="-122"/>
                <a:cs typeface="Calibri" pitchFamily="34" charset="-120"/>
              </a:rPr>
              <a:t>Resort Hotel stays comparatively flatter through the middle of the range — its guests commit earlier and more firmly.</a:t>
            </a:r>
            <a:endParaRPr lang="en-US" sz="1250" dirty="0"/>
          </a:p>
        </p:txBody>
      </p:sp>
      <p:sp>
        <p:nvSpPr>
          <p:cNvPr id="9" name="Text 6"/>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601200" cy="594360"/>
          </a:xfrm>
          <a:prstGeom prst="rect">
            <a:avLst/>
          </a:prstGeom>
          <a:noFill/>
          <a:ln/>
        </p:spPr>
        <p:txBody>
          <a:bodyPr wrap="square" rtlCol="0" anchor="ctr"/>
          <a:lstStyle/>
          <a:p>
            <a:pPr indent="0" marL="0">
              <a:buNone/>
            </a:pPr>
            <a:r>
              <a:rPr lang="en-US" sz="2800" b="1" dirty="0">
                <a:solidFill>
                  <a:srgbClr val="1B3358"/>
                </a:solidFill>
                <a:latin typeface="Cambria" pitchFamily="34" charset="0"/>
                <a:ea typeface="Cambria" pitchFamily="34" charset="-122"/>
                <a:cs typeface="Cambria" pitchFamily="34" charset="-120"/>
              </a:rPr>
              <a:t>Deeper Signals Behind the Numbers</a:t>
            </a:r>
            <a:endParaRPr lang="en-US" sz="2800" dirty="0"/>
          </a:p>
        </p:txBody>
      </p:sp>
      <p:sp>
        <p:nvSpPr>
          <p:cNvPr id="3" name="Shape 1"/>
          <p:cNvSpPr/>
          <p:nvPr/>
        </p:nvSpPr>
        <p:spPr>
          <a:xfrm>
            <a:off x="640080" y="1463040"/>
            <a:ext cx="5257800" cy="2148840"/>
          </a:xfrm>
          <a:prstGeom prst="roundRect">
            <a:avLst>
              <a:gd name="adj" fmla="val 3404"/>
            </a:avLst>
          </a:prstGeom>
          <a:solidFill>
            <a:srgbClr val="FAFBFC"/>
          </a:solidFill>
          <a:ln w="12700">
            <a:solidFill>
              <a:srgbClr val="E3E7EC"/>
            </a:solidFill>
            <a:prstDash val="solid"/>
          </a:ln>
        </p:spPr>
      </p:sp>
      <p:sp>
        <p:nvSpPr>
          <p:cNvPr id="4" name="Shape 2"/>
          <p:cNvSpPr/>
          <p:nvPr/>
        </p:nvSpPr>
        <p:spPr>
          <a:xfrm>
            <a:off x="960120" y="1783080"/>
            <a:ext cx="868680" cy="868680"/>
          </a:xfrm>
          <a:prstGeom prst="ellipse">
            <a:avLst/>
          </a:prstGeom>
          <a:solidFill>
            <a:srgbClr val="1B3358"/>
          </a:solidFill>
          <a:ln/>
        </p:spPr>
      </p:sp>
      <p:sp>
        <p:nvSpPr>
          <p:cNvPr id="5" name="Text 3"/>
          <p:cNvSpPr/>
          <p:nvPr/>
        </p:nvSpPr>
        <p:spPr>
          <a:xfrm>
            <a:off x="960120" y="1783080"/>
            <a:ext cx="868680" cy="86868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6" name="Text 4"/>
          <p:cNvSpPr/>
          <p:nvPr/>
        </p:nvSpPr>
        <p:spPr>
          <a:xfrm>
            <a:off x="2057400" y="1737360"/>
            <a:ext cx="3611880" cy="1600200"/>
          </a:xfrm>
          <a:prstGeom prst="rect">
            <a:avLst/>
          </a:prstGeom>
          <a:noFill/>
          <a:ln/>
        </p:spPr>
        <p:txBody>
          <a:bodyPr wrap="square" rtlCol="0" anchor="ctr"/>
          <a:lstStyle/>
          <a:p>
            <a:pPr indent="0" marL="0">
              <a:lnSpc>
                <a:spcPts val="1800"/>
              </a:lnSpc>
              <a:buNone/>
            </a:pPr>
            <a:r>
              <a:rPr lang="en-US" sz="1300" dirty="0">
                <a:solidFill>
                  <a:srgbClr val="1E1E1E"/>
                </a:solidFill>
                <a:latin typeface="Calibri" pitchFamily="34" charset="0"/>
                <a:ea typeface="Calibri" pitchFamily="34" charset="-122"/>
                <a:cs typeface="Calibri" pitchFamily="34" charset="-120"/>
              </a:rPr>
              <a:t>Personal/Transient guests cancel at 30.1% — three times the Business rate of 9.8%.</a:t>
            </a:r>
            <a:endParaRPr lang="en-US" sz="1300" dirty="0"/>
          </a:p>
        </p:txBody>
      </p:sp>
      <p:sp>
        <p:nvSpPr>
          <p:cNvPr id="7" name="Shape 5"/>
          <p:cNvSpPr/>
          <p:nvPr/>
        </p:nvSpPr>
        <p:spPr>
          <a:xfrm>
            <a:off x="6172200" y="1463040"/>
            <a:ext cx="5257800" cy="2148840"/>
          </a:xfrm>
          <a:prstGeom prst="roundRect">
            <a:avLst>
              <a:gd name="adj" fmla="val 3404"/>
            </a:avLst>
          </a:prstGeom>
          <a:solidFill>
            <a:srgbClr val="FAFBFC"/>
          </a:solidFill>
          <a:ln w="12700">
            <a:solidFill>
              <a:srgbClr val="E3E7EC"/>
            </a:solidFill>
            <a:prstDash val="solid"/>
          </a:ln>
        </p:spPr>
      </p:sp>
      <p:sp>
        <p:nvSpPr>
          <p:cNvPr id="8" name="Shape 6"/>
          <p:cNvSpPr/>
          <p:nvPr/>
        </p:nvSpPr>
        <p:spPr>
          <a:xfrm>
            <a:off x="6492240" y="1783080"/>
            <a:ext cx="868680" cy="868680"/>
          </a:xfrm>
          <a:prstGeom prst="ellipse">
            <a:avLst/>
          </a:prstGeom>
          <a:solidFill>
            <a:srgbClr val="C9822B"/>
          </a:solidFill>
          <a:ln/>
        </p:spPr>
      </p:sp>
      <p:sp>
        <p:nvSpPr>
          <p:cNvPr id="9" name="Text 7"/>
          <p:cNvSpPr/>
          <p:nvPr/>
        </p:nvSpPr>
        <p:spPr>
          <a:xfrm>
            <a:off x="6492240" y="1783080"/>
            <a:ext cx="868680" cy="86868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½</a:t>
            </a:r>
            <a:endParaRPr lang="en-US" sz="2600" dirty="0"/>
          </a:p>
        </p:txBody>
      </p:sp>
      <p:sp>
        <p:nvSpPr>
          <p:cNvPr id="10" name="Text 8"/>
          <p:cNvSpPr/>
          <p:nvPr/>
        </p:nvSpPr>
        <p:spPr>
          <a:xfrm>
            <a:off x="7589520" y="1737360"/>
            <a:ext cx="3611880" cy="1600200"/>
          </a:xfrm>
          <a:prstGeom prst="rect">
            <a:avLst/>
          </a:prstGeom>
          <a:noFill/>
          <a:ln/>
        </p:spPr>
        <p:txBody>
          <a:bodyPr wrap="square" rtlCol="0" anchor="ctr"/>
          <a:lstStyle/>
          <a:p>
            <a:pPr indent="0" marL="0">
              <a:lnSpc>
                <a:spcPts val="1800"/>
              </a:lnSpc>
              <a:buNone/>
            </a:pPr>
            <a:r>
              <a:rPr lang="en-US" sz="1300" dirty="0">
                <a:solidFill>
                  <a:srgbClr val="1E1E1E"/>
                </a:solidFill>
                <a:latin typeface="Calibri" pitchFamily="34" charset="0"/>
                <a:ea typeface="Calibri" pitchFamily="34" charset="-122"/>
                <a:cs typeface="Calibri" pitchFamily="34" charset="-120"/>
              </a:rPr>
              <a:t>Guests who modify their booking cancel at half the rate: 15.7% vs. 30.2%.</a:t>
            </a:r>
            <a:endParaRPr lang="en-US" sz="1300" dirty="0"/>
          </a:p>
        </p:txBody>
      </p:sp>
      <p:sp>
        <p:nvSpPr>
          <p:cNvPr id="11" name="Shape 9"/>
          <p:cNvSpPr/>
          <p:nvPr/>
        </p:nvSpPr>
        <p:spPr>
          <a:xfrm>
            <a:off x="640080" y="3840480"/>
            <a:ext cx="5257800" cy="2148840"/>
          </a:xfrm>
          <a:prstGeom prst="roundRect">
            <a:avLst>
              <a:gd name="adj" fmla="val 3404"/>
            </a:avLst>
          </a:prstGeom>
          <a:solidFill>
            <a:srgbClr val="FAFBFC"/>
          </a:solidFill>
          <a:ln w="12700">
            <a:solidFill>
              <a:srgbClr val="E3E7EC"/>
            </a:solidFill>
            <a:prstDash val="solid"/>
          </a:ln>
        </p:spPr>
      </p:sp>
      <p:sp>
        <p:nvSpPr>
          <p:cNvPr id="12" name="Shape 10"/>
          <p:cNvSpPr/>
          <p:nvPr/>
        </p:nvSpPr>
        <p:spPr>
          <a:xfrm>
            <a:off x="960120" y="4160520"/>
            <a:ext cx="868680" cy="868680"/>
          </a:xfrm>
          <a:prstGeom prst="ellipse">
            <a:avLst/>
          </a:prstGeom>
          <a:solidFill>
            <a:srgbClr val="1B3358"/>
          </a:solidFill>
          <a:ln/>
        </p:spPr>
      </p:sp>
      <p:sp>
        <p:nvSpPr>
          <p:cNvPr id="13" name="Text 11"/>
          <p:cNvSpPr/>
          <p:nvPr/>
        </p:nvSpPr>
        <p:spPr>
          <a:xfrm>
            <a:off x="960120" y="4160520"/>
            <a:ext cx="868680" cy="8686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75%</a:t>
            </a:r>
            <a:endParaRPr lang="en-US" sz="2200" dirty="0"/>
          </a:p>
        </p:txBody>
      </p:sp>
      <p:sp>
        <p:nvSpPr>
          <p:cNvPr id="14" name="Text 12"/>
          <p:cNvSpPr/>
          <p:nvPr/>
        </p:nvSpPr>
        <p:spPr>
          <a:xfrm>
            <a:off x="2057400" y="4114800"/>
            <a:ext cx="3611880" cy="1600200"/>
          </a:xfrm>
          <a:prstGeom prst="rect">
            <a:avLst/>
          </a:prstGeom>
          <a:noFill/>
          <a:ln/>
        </p:spPr>
        <p:txBody>
          <a:bodyPr wrap="square" rtlCol="0" anchor="ctr"/>
          <a:lstStyle/>
          <a:p>
            <a:pPr indent="0" marL="0">
              <a:lnSpc>
                <a:spcPts val="1800"/>
              </a:lnSpc>
              <a:buNone/>
            </a:pPr>
            <a:r>
              <a:rPr lang="en-US" sz="1300" dirty="0">
                <a:solidFill>
                  <a:srgbClr val="1E1E1E"/>
                </a:solidFill>
                <a:latin typeface="Calibri" pitchFamily="34" charset="0"/>
                <a:ea typeface="Calibri" pitchFamily="34" charset="-122"/>
                <a:cs typeface="Calibri" pitchFamily="34" charset="-120"/>
              </a:rPr>
              <a:t>of bookings flow through Online &amp; Offline Travel Agencies, not direct channels.</a:t>
            </a:r>
            <a:endParaRPr lang="en-US" sz="1300" dirty="0"/>
          </a:p>
        </p:txBody>
      </p:sp>
      <p:sp>
        <p:nvSpPr>
          <p:cNvPr id="15" name="Shape 13"/>
          <p:cNvSpPr/>
          <p:nvPr/>
        </p:nvSpPr>
        <p:spPr>
          <a:xfrm>
            <a:off x="6172200" y="3840480"/>
            <a:ext cx="5257800" cy="2148840"/>
          </a:xfrm>
          <a:prstGeom prst="roundRect">
            <a:avLst>
              <a:gd name="adj" fmla="val 3404"/>
            </a:avLst>
          </a:prstGeom>
          <a:solidFill>
            <a:srgbClr val="FAFBFC"/>
          </a:solidFill>
          <a:ln w="12700">
            <a:solidFill>
              <a:srgbClr val="E3E7EC"/>
            </a:solidFill>
            <a:prstDash val="solid"/>
          </a:ln>
        </p:spPr>
      </p:sp>
      <p:sp>
        <p:nvSpPr>
          <p:cNvPr id="16" name="Shape 14"/>
          <p:cNvSpPr/>
          <p:nvPr/>
        </p:nvSpPr>
        <p:spPr>
          <a:xfrm>
            <a:off x="6492240" y="4160520"/>
            <a:ext cx="868680" cy="868680"/>
          </a:xfrm>
          <a:prstGeom prst="ellipse">
            <a:avLst/>
          </a:prstGeom>
          <a:solidFill>
            <a:srgbClr val="C9822B"/>
          </a:solidFill>
          <a:ln/>
        </p:spPr>
      </p:sp>
      <p:sp>
        <p:nvSpPr>
          <p:cNvPr id="17" name="Text 15"/>
          <p:cNvSpPr/>
          <p:nvPr/>
        </p:nvSpPr>
        <p:spPr>
          <a:xfrm>
            <a:off x="6492240" y="4160520"/>
            <a:ext cx="868680" cy="86868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8" name="Text 16"/>
          <p:cNvSpPr/>
          <p:nvPr/>
        </p:nvSpPr>
        <p:spPr>
          <a:xfrm>
            <a:off x="7589520" y="4114800"/>
            <a:ext cx="3611880" cy="1600200"/>
          </a:xfrm>
          <a:prstGeom prst="rect">
            <a:avLst/>
          </a:prstGeom>
          <a:noFill/>
          <a:ln/>
        </p:spPr>
        <p:txBody>
          <a:bodyPr wrap="square" rtlCol="0" anchor="ctr"/>
          <a:lstStyle/>
          <a:p>
            <a:pPr indent="0" marL="0">
              <a:lnSpc>
                <a:spcPts val="1800"/>
              </a:lnSpc>
              <a:buNone/>
            </a:pPr>
            <a:r>
              <a:rPr lang="en-US" sz="1300" dirty="0">
                <a:solidFill>
                  <a:srgbClr val="1E1E1E"/>
                </a:solidFill>
                <a:latin typeface="Calibri" pitchFamily="34" charset="0"/>
                <a:ea typeface="Calibri" pitchFamily="34" charset="-122"/>
                <a:cs typeface="Calibri" pitchFamily="34" charset="-120"/>
              </a:rPr>
              <a:t>Resort ADR triples from ~€58 in low season to ~€187 at the autumn peak.</a:t>
            </a:r>
            <a:endParaRPr lang="en-US" sz="1300" dirty="0"/>
          </a:p>
        </p:txBody>
      </p:sp>
      <p:sp>
        <p:nvSpPr>
          <p:cNvPr id="19" name="Text 17"/>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33D"/>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3" name="Shape 1"/>
          <p:cNvSpPr/>
          <p:nvPr/>
        </p:nvSpPr>
        <p:spPr>
          <a:xfrm>
            <a:off x="640080" y="1600200"/>
            <a:ext cx="502920" cy="502920"/>
          </a:xfrm>
          <a:prstGeom prst="ellipse">
            <a:avLst/>
          </a:prstGeom>
          <a:solidFill>
            <a:srgbClr val="C9822B"/>
          </a:solidFill>
          <a:ln/>
        </p:spPr>
      </p:sp>
      <p:sp>
        <p:nvSpPr>
          <p:cNvPr id="4" name="Text 2"/>
          <p:cNvSpPr/>
          <p:nvPr/>
        </p:nvSpPr>
        <p:spPr>
          <a:xfrm>
            <a:off x="640080" y="1600200"/>
            <a:ext cx="502920" cy="502920"/>
          </a:xfrm>
          <a:prstGeom prst="rect">
            <a:avLst/>
          </a:prstGeom>
          <a:noFill/>
          <a:ln/>
        </p:spPr>
        <p:txBody>
          <a:bodyPr wrap="square" rtlCol="0" anchor="ctr"/>
          <a:lstStyle/>
          <a:p>
            <a:pPr algn="ctr" indent="0" marL="0">
              <a:buNone/>
            </a:pPr>
            <a:r>
              <a:rPr lang="en-US" sz="1600" b="1" dirty="0">
                <a:solidFill>
                  <a:srgbClr val="12233D"/>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417320" y="1527048"/>
            <a:ext cx="9692640" cy="822960"/>
          </a:xfrm>
          <a:prstGeom prst="rect">
            <a:avLst/>
          </a:prstGeom>
          <a:noFill/>
          <a:ln/>
        </p:spPr>
        <p:txBody>
          <a:bodyPr wrap="square" rtlCol="0" anchor="ctr"/>
          <a:lstStyle/>
          <a:p>
            <a:pPr indent="0" marL="0">
              <a:lnSpc>
                <a:spcPts val="2100"/>
              </a:lnSpc>
              <a:buNone/>
            </a:pPr>
            <a:r>
              <a:rPr lang="en-US" sz="1600" dirty="0">
                <a:solidFill>
                  <a:srgbClr val="FFFFFF"/>
                </a:solidFill>
                <a:latin typeface="Calibri" pitchFamily="34" charset="0"/>
                <a:ea typeface="Calibri" pitchFamily="34" charset="-122"/>
                <a:cs typeface="Calibri" pitchFamily="34" charset="-120"/>
              </a:rPr>
              <a:t>The City Hotel drives the majority of both volume (61%) and cancellations (30.2% vs. 23.5%).</a:t>
            </a:r>
            <a:endParaRPr lang="en-US" sz="1600" dirty="0"/>
          </a:p>
        </p:txBody>
      </p:sp>
      <p:sp>
        <p:nvSpPr>
          <p:cNvPr id="6" name="Shape 4"/>
          <p:cNvSpPr/>
          <p:nvPr/>
        </p:nvSpPr>
        <p:spPr>
          <a:xfrm>
            <a:off x="640080" y="2770632"/>
            <a:ext cx="502920" cy="502920"/>
          </a:xfrm>
          <a:prstGeom prst="ellipse">
            <a:avLst/>
          </a:prstGeom>
          <a:solidFill>
            <a:srgbClr val="C9822B"/>
          </a:solidFill>
          <a:ln/>
        </p:spPr>
      </p:sp>
      <p:sp>
        <p:nvSpPr>
          <p:cNvPr id="7" name="Text 5"/>
          <p:cNvSpPr/>
          <p:nvPr/>
        </p:nvSpPr>
        <p:spPr>
          <a:xfrm>
            <a:off x="640080" y="2770632"/>
            <a:ext cx="502920" cy="502920"/>
          </a:xfrm>
          <a:prstGeom prst="rect">
            <a:avLst/>
          </a:prstGeom>
          <a:noFill/>
          <a:ln/>
        </p:spPr>
        <p:txBody>
          <a:bodyPr wrap="square" rtlCol="0" anchor="ctr"/>
          <a:lstStyle/>
          <a:p>
            <a:pPr algn="ctr" indent="0" marL="0">
              <a:buNone/>
            </a:pPr>
            <a:r>
              <a:rPr lang="en-US" sz="1600" b="1" dirty="0">
                <a:solidFill>
                  <a:srgbClr val="12233D"/>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417320" y="2697480"/>
            <a:ext cx="9692640" cy="822960"/>
          </a:xfrm>
          <a:prstGeom prst="rect">
            <a:avLst/>
          </a:prstGeom>
          <a:noFill/>
          <a:ln/>
        </p:spPr>
        <p:txBody>
          <a:bodyPr wrap="square" rtlCol="0" anchor="ctr"/>
          <a:lstStyle/>
          <a:p>
            <a:pPr indent="0" marL="0">
              <a:lnSpc>
                <a:spcPts val="2100"/>
              </a:lnSpc>
              <a:buNone/>
            </a:pPr>
            <a:r>
              <a:rPr lang="en-US" sz="1600" dirty="0">
                <a:solidFill>
                  <a:srgbClr val="FFFFFF"/>
                </a:solidFill>
                <a:latin typeface="Calibri" pitchFamily="34" charset="0"/>
                <a:ea typeface="Calibri" pitchFamily="34" charset="-122"/>
                <a:cs typeface="Calibri" pitchFamily="34" charset="-120"/>
              </a:rPr>
              <a:t>Cancellation risk rises steadily with length of stay — steeply at the City Hotel, gently at the Resort.</a:t>
            </a:r>
            <a:endParaRPr lang="en-US" sz="1600" dirty="0"/>
          </a:p>
        </p:txBody>
      </p:sp>
      <p:sp>
        <p:nvSpPr>
          <p:cNvPr id="9" name="Shape 7"/>
          <p:cNvSpPr/>
          <p:nvPr/>
        </p:nvSpPr>
        <p:spPr>
          <a:xfrm>
            <a:off x="640080" y="3941064"/>
            <a:ext cx="502920" cy="502920"/>
          </a:xfrm>
          <a:prstGeom prst="ellipse">
            <a:avLst/>
          </a:prstGeom>
          <a:solidFill>
            <a:srgbClr val="C9822B"/>
          </a:solidFill>
          <a:ln/>
        </p:spPr>
      </p:sp>
      <p:sp>
        <p:nvSpPr>
          <p:cNvPr id="10" name="Text 8"/>
          <p:cNvSpPr/>
          <p:nvPr/>
        </p:nvSpPr>
        <p:spPr>
          <a:xfrm>
            <a:off x="640080" y="3941064"/>
            <a:ext cx="502920" cy="502920"/>
          </a:xfrm>
          <a:prstGeom prst="rect">
            <a:avLst/>
          </a:prstGeom>
          <a:noFill/>
          <a:ln/>
        </p:spPr>
        <p:txBody>
          <a:bodyPr wrap="square" rtlCol="0" anchor="ctr"/>
          <a:lstStyle/>
          <a:p>
            <a:pPr algn="ctr" indent="0" marL="0">
              <a:buNone/>
            </a:pPr>
            <a:r>
              <a:rPr lang="en-US" sz="1600" b="1" dirty="0">
                <a:solidFill>
                  <a:srgbClr val="12233D"/>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417320" y="3867912"/>
            <a:ext cx="9692640" cy="822960"/>
          </a:xfrm>
          <a:prstGeom prst="rect">
            <a:avLst/>
          </a:prstGeom>
          <a:noFill/>
          <a:ln/>
        </p:spPr>
        <p:txBody>
          <a:bodyPr wrap="square" rtlCol="0" anchor="ctr"/>
          <a:lstStyle/>
          <a:p>
            <a:pPr indent="0" marL="0">
              <a:lnSpc>
                <a:spcPts val="2100"/>
              </a:lnSpc>
              <a:buNone/>
            </a:pPr>
            <a:r>
              <a:rPr lang="en-US" sz="1600" dirty="0">
                <a:solidFill>
                  <a:srgbClr val="FFFFFF"/>
                </a:solidFill>
                <a:latin typeface="Calibri" pitchFamily="34" charset="0"/>
                <a:ea typeface="Calibri" pitchFamily="34" charset="-122"/>
                <a:cs typeface="Calibri" pitchFamily="34" charset="-120"/>
              </a:rPr>
              <a:t>Cancellation risk rises steadily with lead time, peaking near 65% for City bookings made a year out.</a:t>
            </a:r>
            <a:endParaRPr lang="en-US" sz="1600" dirty="0"/>
          </a:p>
        </p:txBody>
      </p:sp>
      <p:sp>
        <p:nvSpPr>
          <p:cNvPr id="12" name="Shape 10"/>
          <p:cNvSpPr/>
          <p:nvPr/>
        </p:nvSpPr>
        <p:spPr>
          <a:xfrm>
            <a:off x="640080" y="5111496"/>
            <a:ext cx="502920" cy="502920"/>
          </a:xfrm>
          <a:prstGeom prst="ellipse">
            <a:avLst/>
          </a:prstGeom>
          <a:solidFill>
            <a:srgbClr val="C9822B"/>
          </a:solidFill>
          <a:ln/>
        </p:spPr>
      </p:sp>
      <p:sp>
        <p:nvSpPr>
          <p:cNvPr id="13" name="Text 11"/>
          <p:cNvSpPr/>
          <p:nvPr/>
        </p:nvSpPr>
        <p:spPr>
          <a:xfrm>
            <a:off x="640080" y="5111496"/>
            <a:ext cx="502920" cy="502920"/>
          </a:xfrm>
          <a:prstGeom prst="rect">
            <a:avLst/>
          </a:prstGeom>
          <a:noFill/>
          <a:ln/>
        </p:spPr>
        <p:txBody>
          <a:bodyPr wrap="square" rtlCol="0" anchor="ctr"/>
          <a:lstStyle/>
          <a:p>
            <a:pPr algn="ctr" indent="0" marL="0">
              <a:buNone/>
            </a:pPr>
            <a:r>
              <a:rPr lang="en-US" sz="1600" b="1" dirty="0">
                <a:solidFill>
                  <a:srgbClr val="12233D"/>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417320" y="5038344"/>
            <a:ext cx="9692640" cy="822960"/>
          </a:xfrm>
          <a:prstGeom prst="rect">
            <a:avLst/>
          </a:prstGeom>
          <a:noFill/>
          <a:ln/>
        </p:spPr>
        <p:txBody>
          <a:bodyPr wrap="square" rtlCol="0" anchor="ctr"/>
          <a:lstStyle/>
          <a:p>
            <a:pPr indent="0" marL="0">
              <a:lnSpc>
                <a:spcPts val="2100"/>
              </a:lnSpc>
              <a:buNone/>
            </a:pPr>
            <a:r>
              <a:rPr lang="en-US" sz="1600" dirty="0">
                <a:solidFill>
                  <a:srgbClr val="FFFFFF"/>
                </a:solidFill>
                <a:latin typeface="Calibri" pitchFamily="34" charset="0"/>
                <a:ea typeface="Calibri" pitchFamily="34" charset="-122"/>
                <a:cs typeface="Calibri" pitchFamily="34" charset="-120"/>
              </a:rPr>
              <a:t>Personal guests, unmodified bookings, and OTA channels are consistently the highest-risk segments.</a:t>
            </a:r>
            <a:endParaRPr lang="en-US" sz="1600" dirty="0"/>
          </a:p>
        </p:txBody>
      </p:sp>
      <p:sp>
        <p:nvSpPr>
          <p:cNvPr id="15" name="Text 13"/>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594360"/>
          </a:xfrm>
          <a:prstGeom prst="rect">
            <a:avLst/>
          </a:prstGeom>
          <a:noFill/>
          <a:ln/>
        </p:spPr>
        <p:txBody>
          <a:bodyPr wrap="square" rtlCol="0" anchor="ctr"/>
          <a:lstStyle/>
          <a:p>
            <a:pPr indent="0" marL="0">
              <a:buNone/>
            </a:pPr>
            <a:r>
              <a:rPr lang="en-US" sz="3000" b="1" dirty="0">
                <a:solidFill>
                  <a:srgbClr val="1B3358"/>
                </a:solidFill>
                <a:latin typeface="Cambria" pitchFamily="34" charset="0"/>
                <a:ea typeface="Cambria" pitchFamily="34" charset="-122"/>
                <a:cs typeface="Cambria" pitchFamily="34" charset="-120"/>
              </a:rPr>
              <a:t>Five Recommendations</a:t>
            </a:r>
            <a:endParaRPr lang="en-US" sz="3000" dirty="0"/>
          </a:p>
        </p:txBody>
      </p:sp>
      <p:sp>
        <p:nvSpPr>
          <p:cNvPr id="3" name="Shape 1"/>
          <p:cNvSpPr/>
          <p:nvPr/>
        </p:nvSpPr>
        <p:spPr>
          <a:xfrm>
            <a:off x="640080" y="1417320"/>
            <a:ext cx="3429000" cy="2148840"/>
          </a:xfrm>
          <a:prstGeom prst="roundRect">
            <a:avLst>
              <a:gd name="adj" fmla="val 3404"/>
            </a:avLst>
          </a:prstGeom>
          <a:solidFill>
            <a:srgbClr val="1B3358"/>
          </a:solidFill>
          <a:ln/>
        </p:spPr>
      </p:sp>
      <p:sp>
        <p:nvSpPr>
          <p:cNvPr id="4" name="Shape 2"/>
          <p:cNvSpPr/>
          <p:nvPr/>
        </p:nvSpPr>
        <p:spPr>
          <a:xfrm>
            <a:off x="896112" y="1673352"/>
            <a:ext cx="502920" cy="502920"/>
          </a:xfrm>
          <a:prstGeom prst="ellipse">
            <a:avLst/>
          </a:prstGeom>
          <a:solidFill>
            <a:srgbClr val="C9822B"/>
          </a:solidFill>
          <a:ln/>
        </p:spPr>
      </p:sp>
      <p:sp>
        <p:nvSpPr>
          <p:cNvPr id="5" name="Text 3"/>
          <p:cNvSpPr/>
          <p:nvPr/>
        </p:nvSpPr>
        <p:spPr>
          <a:xfrm>
            <a:off x="896112" y="1673352"/>
            <a:ext cx="502920" cy="502920"/>
          </a:xfrm>
          <a:prstGeom prst="rect">
            <a:avLst/>
          </a:prstGeom>
          <a:noFill/>
          <a:ln/>
        </p:spPr>
        <p:txBody>
          <a:bodyPr wrap="square" rtlCol="0" anchor="ctr"/>
          <a:lstStyle/>
          <a:p>
            <a:pPr algn="ctr" indent="0" marL="0">
              <a:buNone/>
            </a:pPr>
            <a:r>
              <a:rPr lang="en-US" sz="1600" b="1" dirty="0">
                <a:solidFill>
                  <a:srgbClr val="1B3358"/>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896112" y="2331720"/>
            <a:ext cx="2916936" cy="41148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Smooth the Season</a:t>
            </a:r>
            <a:endParaRPr lang="en-US" sz="1550" dirty="0"/>
          </a:p>
        </p:txBody>
      </p:sp>
      <p:sp>
        <p:nvSpPr>
          <p:cNvPr id="7" name="Text 5"/>
          <p:cNvSpPr/>
          <p:nvPr/>
        </p:nvSpPr>
        <p:spPr>
          <a:xfrm>
            <a:off x="896112" y="2743200"/>
            <a:ext cx="2916936" cy="7315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Spring promotions to lift Resort off-peak demand</a:t>
            </a:r>
            <a:endParaRPr lang="en-US" sz="1150" dirty="0"/>
          </a:p>
        </p:txBody>
      </p:sp>
      <p:sp>
        <p:nvSpPr>
          <p:cNvPr id="8" name="Shape 6"/>
          <p:cNvSpPr/>
          <p:nvPr/>
        </p:nvSpPr>
        <p:spPr>
          <a:xfrm>
            <a:off x="4325112" y="1417320"/>
            <a:ext cx="3429000" cy="2148840"/>
          </a:xfrm>
          <a:prstGeom prst="roundRect">
            <a:avLst>
              <a:gd name="adj" fmla="val 3404"/>
            </a:avLst>
          </a:prstGeom>
          <a:solidFill>
            <a:srgbClr val="1B3358"/>
          </a:solidFill>
          <a:ln/>
        </p:spPr>
      </p:sp>
      <p:sp>
        <p:nvSpPr>
          <p:cNvPr id="9" name="Shape 7"/>
          <p:cNvSpPr/>
          <p:nvPr/>
        </p:nvSpPr>
        <p:spPr>
          <a:xfrm>
            <a:off x="4581144" y="1673352"/>
            <a:ext cx="502920" cy="502920"/>
          </a:xfrm>
          <a:prstGeom prst="ellipse">
            <a:avLst/>
          </a:prstGeom>
          <a:solidFill>
            <a:srgbClr val="C9822B"/>
          </a:solidFill>
          <a:ln/>
        </p:spPr>
      </p:sp>
      <p:sp>
        <p:nvSpPr>
          <p:cNvPr id="10" name="Text 8"/>
          <p:cNvSpPr/>
          <p:nvPr/>
        </p:nvSpPr>
        <p:spPr>
          <a:xfrm>
            <a:off x="4581144" y="1673352"/>
            <a:ext cx="502920" cy="502920"/>
          </a:xfrm>
          <a:prstGeom prst="rect">
            <a:avLst/>
          </a:prstGeom>
          <a:noFill/>
          <a:ln/>
        </p:spPr>
        <p:txBody>
          <a:bodyPr wrap="square" rtlCol="0" anchor="ctr"/>
          <a:lstStyle/>
          <a:p>
            <a:pPr algn="ctr" indent="0" marL="0">
              <a:buNone/>
            </a:pPr>
            <a:r>
              <a:rPr lang="en-US" sz="1600" b="1" dirty="0">
                <a:solidFill>
                  <a:srgbClr val="1B3358"/>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4581144" y="2331720"/>
            <a:ext cx="2916936" cy="41148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Price Long Stays</a:t>
            </a:r>
            <a:endParaRPr lang="en-US" sz="1550" dirty="0"/>
          </a:p>
        </p:txBody>
      </p:sp>
      <p:sp>
        <p:nvSpPr>
          <p:cNvPr id="12" name="Text 10"/>
          <p:cNvSpPr/>
          <p:nvPr/>
        </p:nvSpPr>
        <p:spPr>
          <a:xfrm>
            <a:off x="4581144" y="2743200"/>
            <a:ext cx="2916936" cy="7315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Graduated deposits for 5+ night City bookings</a:t>
            </a:r>
            <a:endParaRPr lang="en-US" sz="1150" dirty="0"/>
          </a:p>
        </p:txBody>
      </p:sp>
      <p:sp>
        <p:nvSpPr>
          <p:cNvPr id="13" name="Shape 11"/>
          <p:cNvSpPr/>
          <p:nvPr/>
        </p:nvSpPr>
        <p:spPr>
          <a:xfrm>
            <a:off x="8010144" y="1417320"/>
            <a:ext cx="3429000" cy="2148840"/>
          </a:xfrm>
          <a:prstGeom prst="roundRect">
            <a:avLst>
              <a:gd name="adj" fmla="val 3404"/>
            </a:avLst>
          </a:prstGeom>
          <a:solidFill>
            <a:srgbClr val="1B3358"/>
          </a:solidFill>
          <a:ln/>
        </p:spPr>
      </p:sp>
      <p:sp>
        <p:nvSpPr>
          <p:cNvPr id="14" name="Shape 12"/>
          <p:cNvSpPr/>
          <p:nvPr/>
        </p:nvSpPr>
        <p:spPr>
          <a:xfrm>
            <a:off x="8266176" y="1673352"/>
            <a:ext cx="502920" cy="502920"/>
          </a:xfrm>
          <a:prstGeom prst="ellipse">
            <a:avLst/>
          </a:prstGeom>
          <a:solidFill>
            <a:srgbClr val="C9822B"/>
          </a:solidFill>
          <a:ln/>
        </p:spPr>
      </p:sp>
      <p:sp>
        <p:nvSpPr>
          <p:cNvPr id="15" name="Text 13"/>
          <p:cNvSpPr/>
          <p:nvPr/>
        </p:nvSpPr>
        <p:spPr>
          <a:xfrm>
            <a:off x="8266176" y="1673352"/>
            <a:ext cx="502920" cy="502920"/>
          </a:xfrm>
          <a:prstGeom prst="rect">
            <a:avLst/>
          </a:prstGeom>
          <a:noFill/>
          <a:ln/>
        </p:spPr>
        <p:txBody>
          <a:bodyPr wrap="square" rtlCol="0" anchor="ctr"/>
          <a:lstStyle/>
          <a:p>
            <a:pPr algn="ctr" indent="0" marL="0">
              <a:buNone/>
            </a:pPr>
            <a:r>
              <a:rPr lang="en-US" sz="1600" b="1" dirty="0">
                <a:solidFill>
                  <a:srgbClr val="1B3358"/>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8266176" y="2331720"/>
            <a:ext cx="2916936" cy="41148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Reach Far-Out Bookers</a:t>
            </a:r>
            <a:endParaRPr lang="en-US" sz="1550" dirty="0"/>
          </a:p>
        </p:txBody>
      </p:sp>
      <p:sp>
        <p:nvSpPr>
          <p:cNvPr id="17" name="Text 15"/>
          <p:cNvSpPr/>
          <p:nvPr/>
        </p:nvSpPr>
        <p:spPr>
          <a:xfrm>
            <a:off x="8266176" y="2743200"/>
            <a:ext cx="2916936" cy="7315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Reminder sequence at 90 / 30 / 7 days for 180+ day lead times</a:t>
            </a:r>
            <a:endParaRPr lang="en-US" sz="1150" dirty="0"/>
          </a:p>
        </p:txBody>
      </p:sp>
      <p:sp>
        <p:nvSpPr>
          <p:cNvPr id="18" name="Shape 16"/>
          <p:cNvSpPr/>
          <p:nvPr/>
        </p:nvSpPr>
        <p:spPr>
          <a:xfrm>
            <a:off x="640080" y="3794760"/>
            <a:ext cx="3429000" cy="2148840"/>
          </a:xfrm>
          <a:prstGeom prst="roundRect">
            <a:avLst>
              <a:gd name="adj" fmla="val 3404"/>
            </a:avLst>
          </a:prstGeom>
          <a:solidFill>
            <a:srgbClr val="FAFBFC"/>
          </a:solidFill>
          <a:ln w="12700">
            <a:solidFill>
              <a:srgbClr val="E3E7EC"/>
            </a:solidFill>
            <a:prstDash val="solid"/>
          </a:ln>
        </p:spPr>
      </p:sp>
      <p:sp>
        <p:nvSpPr>
          <p:cNvPr id="19" name="Shape 17"/>
          <p:cNvSpPr/>
          <p:nvPr/>
        </p:nvSpPr>
        <p:spPr>
          <a:xfrm>
            <a:off x="896112" y="4050792"/>
            <a:ext cx="502920" cy="502920"/>
          </a:xfrm>
          <a:prstGeom prst="ellipse">
            <a:avLst/>
          </a:prstGeom>
          <a:solidFill>
            <a:srgbClr val="C9822B"/>
          </a:solidFill>
          <a:ln/>
        </p:spPr>
      </p:sp>
      <p:sp>
        <p:nvSpPr>
          <p:cNvPr id="20" name="Text 18"/>
          <p:cNvSpPr/>
          <p:nvPr/>
        </p:nvSpPr>
        <p:spPr>
          <a:xfrm>
            <a:off x="896112" y="405079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896112" y="4709160"/>
            <a:ext cx="2916936" cy="411480"/>
          </a:xfrm>
          <a:prstGeom prst="rect">
            <a:avLst/>
          </a:prstGeom>
          <a:noFill/>
          <a:ln/>
        </p:spPr>
        <p:txBody>
          <a:bodyPr wrap="square" rtlCol="0" anchor="ctr"/>
          <a:lstStyle/>
          <a:p>
            <a:pPr indent="0" marL="0">
              <a:buNone/>
            </a:pPr>
            <a:r>
              <a:rPr lang="en-US" sz="1550" b="1" dirty="0">
                <a:solidFill>
                  <a:srgbClr val="1B3358"/>
                </a:solidFill>
                <a:latin typeface="Calibri" pitchFamily="34" charset="0"/>
                <a:ea typeface="Calibri" pitchFamily="34" charset="-122"/>
                <a:cs typeface="Calibri" pitchFamily="34" charset="-120"/>
              </a:rPr>
              <a:t>Go Direct</a:t>
            </a:r>
            <a:endParaRPr lang="en-US" sz="1550" dirty="0"/>
          </a:p>
        </p:txBody>
      </p:sp>
      <p:sp>
        <p:nvSpPr>
          <p:cNvPr id="22" name="Text 20"/>
          <p:cNvSpPr/>
          <p:nvPr/>
        </p:nvSpPr>
        <p:spPr>
          <a:xfrm>
            <a:off x="896112" y="5120640"/>
            <a:ext cx="2916936" cy="731520"/>
          </a:xfrm>
          <a:prstGeom prst="rect">
            <a:avLst/>
          </a:prstGeom>
          <a:noFill/>
          <a:ln/>
        </p:spPr>
        <p:txBody>
          <a:bodyPr wrap="square"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Incentives to cut 75% OTA dependency</a:t>
            </a:r>
            <a:endParaRPr lang="en-US" sz="1150" dirty="0"/>
          </a:p>
        </p:txBody>
      </p:sp>
      <p:sp>
        <p:nvSpPr>
          <p:cNvPr id="23" name="Shape 21"/>
          <p:cNvSpPr/>
          <p:nvPr/>
        </p:nvSpPr>
        <p:spPr>
          <a:xfrm>
            <a:off x="4325112" y="3794760"/>
            <a:ext cx="3429000" cy="2148840"/>
          </a:xfrm>
          <a:prstGeom prst="roundRect">
            <a:avLst>
              <a:gd name="adj" fmla="val 3404"/>
            </a:avLst>
          </a:prstGeom>
          <a:solidFill>
            <a:srgbClr val="FAFBFC"/>
          </a:solidFill>
          <a:ln w="12700">
            <a:solidFill>
              <a:srgbClr val="E3E7EC"/>
            </a:solidFill>
            <a:prstDash val="solid"/>
          </a:ln>
        </p:spPr>
      </p:sp>
      <p:sp>
        <p:nvSpPr>
          <p:cNvPr id="24" name="Shape 22"/>
          <p:cNvSpPr/>
          <p:nvPr/>
        </p:nvSpPr>
        <p:spPr>
          <a:xfrm>
            <a:off x="4581144" y="4050792"/>
            <a:ext cx="502920" cy="502920"/>
          </a:xfrm>
          <a:prstGeom prst="ellipse">
            <a:avLst/>
          </a:prstGeom>
          <a:solidFill>
            <a:srgbClr val="C9822B"/>
          </a:solidFill>
          <a:ln/>
        </p:spPr>
      </p:sp>
      <p:sp>
        <p:nvSpPr>
          <p:cNvPr id="25" name="Text 23"/>
          <p:cNvSpPr/>
          <p:nvPr/>
        </p:nvSpPr>
        <p:spPr>
          <a:xfrm>
            <a:off x="4581144" y="405079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4581144" y="4709160"/>
            <a:ext cx="2916936" cy="411480"/>
          </a:xfrm>
          <a:prstGeom prst="rect">
            <a:avLst/>
          </a:prstGeom>
          <a:noFill/>
          <a:ln/>
        </p:spPr>
        <p:txBody>
          <a:bodyPr wrap="square" rtlCol="0" anchor="ctr"/>
          <a:lstStyle/>
          <a:p>
            <a:pPr indent="0" marL="0">
              <a:buNone/>
            </a:pPr>
            <a:r>
              <a:rPr lang="en-US" sz="1550" b="1" dirty="0">
                <a:solidFill>
                  <a:srgbClr val="1B3358"/>
                </a:solidFill>
                <a:latin typeface="Calibri" pitchFamily="34" charset="0"/>
                <a:ea typeface="Calibri" pitchFamily="34" charset="-122"/>
                <a:cs typeface="Calibri" pitchFamily="34" charset="-120"/>
              </a:rPr>
              <a:t>Target by Segment</a:t>
            </a:r>
            <a:endParaRPr lang="en-US" sz="1550" dirty="0"/>
          </a:p>
        </p:txBody>
      </p:sp>
      <p:sp>
        <p:nvSpPr>
          <p:cNvPr id="27" name="Text 25"/>
          <p:cNvSpPr/>
          <p:nvPr/>
        </p:nvSpPr>
        <p:spPr>
          <a:xfrm>
            <a:off x="4581144" y="5120640"/>
            <a:ext cx="2916936" cy="731520"/>
          </a:xfrm>
          <a:prstGeom prst="rect">
            <a:avLst/>
          </a:prstGeom>
          <a:noFill/>
          <a:ln/>
        </p:spPr>
        <p:txBody>
          <a:bodyPr wrap="square"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Deposits for Personal guests; retention offers for Business/Contract</a:t>
            </a:r>
            <a:endParaRPr lang="en-US" sz="1150" dirty="0"/>
          </a:p>
        </p:txBody>
      </p:sp>
      <p:sp>
        <p:nvSpPr>
          <p:cNvPr id="28" name="Text 26"/>
          <p:cNvSpPr/>
          <p:nvPr/>
        </p:nvSpPr>
        <p:spPr>
          <a:xfrm>
            <a:off x="640080" y="5989320"/>
            <a:ext cx="10881360" cy="457200"/>
          </a:xfrm>
          <a:prstGeom prst="rect">
            <a:avLst/>
          </a:prstGeom>
          <a:noFill/>
          <a:ln/>
        </p:spPr>
        <p:txBody>
          <a:bodyPr wrap="square" rtlCol="0" anchor="ctr"/>
          <a:lstStyle/>
          <a:p>
            <a:pPr indent="0" marL="0">
              <a:buNone/>
            </a:pPr>
            <a:r>
              <a:rPr lang="en-US" sz="1250" b="1" i="1" dirty="0">
                <a:solidFill>
                  <a:srgbClr val="C9822B"/>
                </a:solidFill>
                <a:latin typeface="Calibri" pitchFamily="34" charset="0"/>
                <a:ea typeface="Calibri" pitchFamily="34" charset="-122"/>
                <a:cs typeface="Calibri" pitchFamily="34" charset="-120"/>
              </a:rPr>
              <a:t>★ Highest impact: deposits on far-ahead City Hotel bookings — the single highest-risk segment identified (≈65% cancellation).</a:t>
            </a:r>
            <a:endParaRPr lang="en-US" sz="1250" dirty="0"/>
          </a:p>
        </p:txBody>
      </p:sp>
      <p:sp>
        <p:nvSpPr>
          <p:cNvPr id="29" name="Text 27"/>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3D"/>
        </a:solidFill>
      </p:bgPr>
    </p:bg>
    <p:spTree>
      <p:nvGrpSpPr>
        <p:cNvPr id="1" name=""/>
        <p:cNvGrpSpPr/>
        <p:nvPr/>
      </p:nvGrpSpPr>
      <p:grpSpPr>
        <a:xfrm>
          <a:off x="0" y="0"/>
          <a:ext cx="0" cy="0"/>
          <a:chOff x="0" y="0"/>
          <a:chExt cx="0" cy="0"/>
        </a:xfrm>
      </p:grpSpPr>
      <p:sp>
        <p:nvSpPr>
          <p:cNvPr id="2" name="Text 0"/>
          <p:cNvSpPr/>
          <p:nvPr/>
        </p:nvSpPr>
        <p:spPr>
          <a:xfrm>
            <a:off x="822960" y="2468880"/>
            <a:ext cx="7315200" cy="10058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p:nvPr/>
        </p:nvSpPr>
        <p:spPr>
          <a:xfrm>
            <a:off x="822960" y="3383280"/>
            <a:ext cx="7315200" cy="548640"/>
          </a:xfrm>
          <a:prstGeom prst="rect">
            <a:avLst/>
          </a:prstGeom>
          <a:noFill/>
          <a:ln/>
        </p:spPr>
        <p:txBody>
          <a:bodyPr wrap="square" rtlCol="0" anchor="ctr"/>
          <a:lstStyle/>
          <a:p>
            <a:pPr indent="0" marL="0">
              <a:buNone/>
            </a:pPr>
            <a:r>
              <a:rPr lang="en-US" sz="2000" i="1" dirty="0">
                <a:solidFill>
                  <a:srgbClr val="C9822B"/>
                </a:solidFill>
                <a:latin typeface="Calibri" pitchFamily="34" charset="0"/>
                <a:ea typeface="Calibri" pitchFamily="34" charset="-122"/>
                <a:cs typeface="Calibri" pitchFamily="34" charset="-120"/>
              </a:rPr>
              <a:t>Questions &amp; Discussion</a:t>
            </a:r>
            <a:endParaRPr lang="en-US" sz="2000" dirty="0"/>
          </a:p>
        </p:txBody>
      </p:sp>
      <p:sp>
        <p:nvSpPr>
          <p:cNvPr id="4" name="Text 2"/>
          <p:cNvSpPr/>
          <p:nvPr/>
        </p:nvSpPr>
        <p:spPr>
          <a:xfrm>
            <a:off x="822960" y="6126480"/>
            <a:ext cx="9601200" cy="365760"/>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Investigate Hotel Business Using Data Visualization  ·  Python · Pandas · Matplotlib · Seaborn</a:t>
            </a:r>
            <a:endParaRPr lang="en-US" sz="1200" dirty="0"/>
          </a:p>
        </p:txBody>
      </p:sp>
      <p:sp>
        <p:nvSpPr>
          <p:cNvPr id="5" name="Text 3"/>
          <p:cNvSpPr/>
          <p:nvPr/>
        </p:nvSpPr>
        <p:spPr>
          <a:xfrm>
            <a:off x="11475720" y="6473952"/>
            <a:ext cx="54864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2026-08-06T03:14:48Z</dcterms:created>
  <dcterms:modified xsi:type="dcterms:W3CDTF">2026-08-06T03:14:48Z</dcterms:modified>
</cp:coreProperties>
</file>